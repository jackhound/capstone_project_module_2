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NPI rate (%)</c:v>
                </c:pt>
              </c:strCache>
            </c:strRef>
          </c:tx>
          <c:spPr>
            <a:solidFill>
              <a:srgbClr val="007D61"/>
            </a:solidFill>
            <a:ln>
              <a:noFill/>
            </a:ln>
          </c:spPr>
          <c:cat>
            <c:strRef>
              <c:f>Sheet1!$A$2:$A$3</c:f>
              <c:strCache>
                <c:ptCount val="2"/>
                <c:pt idx="0">
                  <c:v>Unit kosong</c:v>
                </c:pt>
                <c:pt idx="1">
                  <c:v>Unit tidak kosong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59.23</c:v>
                </c:pt>
                <c:pt idx="1">
                  <c:v>29.48</c:v>
                </c:pt>
              </c:numCache>
            </c:numRef>
          </c:val>
        </c:ser>
        <c:dLbls>
          <c:numFmt formatCode="0.00" sourceLinked="0"/>
          <c:txPr>
            <a:bodyPr/>
            <a:lstStyle/>
            <a:p>
              <a:pPr>
                <a:defRPr sz="900"/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majorTickMark val="out"/>
        <c:minorTickMark val="none"/>
        <c:tickLblPos val="nextTo"/>
        <c:txPr>
          <a:bodyPr/>
          <a:lstStyle/>
          <a:p>
            <a:pPr>
              <a:defRPr sz="1000"/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b"/>
        <c:majorGridlines/>
        <c:majorTickMark val="out"/>
        <c:minorTickMark val="none"/>
        <c:tickLblPos val="nextTo"/>
        <c:txPr>
          <a:bodyPr/>
          <a:lstStyle/>
          <a:p>
            <a:pPr>
              <a:defRPr sz="900"/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NPI rate (%)</c:v>
                </c:pt>
              </c:strCache>
            </c:strRef>
          </c:tx>
          <c:spPr>
            <a:solidFill>
              <a:srgbClr val="DC8B36"/>
            </a:solidFill>
            <a:ln>
              <a:noFill/>
            </a:ln>
          </c:spPr>
          <c:cat>
            <c:strRef>
              <c:f>Sheet1!$A$2:$A$3</c:f>
              <c:strCache>
                <c:ptCount val="2"/>
                <c:pt idx="0">
                  <c:v>Kontak kosong</c:v>
                </c:pt>
                <c:pt idx="1">
                  <c:v>Kontak terisi &amp; terverifikasi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45.26</c:v>
                </c:pt>
                <c:pt idx="1">
                  <c:v>33.62</c:v>
                </c:pt>
              </c:numCache>
            </c:numRef>
          </c:val>
        </c:ser>
        <c:dLbls>
          <c:numFmt formatCode="0.00" sourceLinked="0"/>
          <c:txPr>
            <a:bodyPr/>
            <a:lstStyle/>
            <a:p>
              <a:pPr>
                <a:defRPr sz="900"/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majorTickMark val="out"/>
        <c:minorTickMark val="none"/>
        <c:tickLblPos val="nextTo"/>
        <c:txPr>
          <a:bodyPr/>
          <a:lstStyle/>
          <a:p>
            <a:pPr>
              <a:defRPr sz="1000"/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b"/>
        <c:majorGridlines/>
        <c:majorTickMark val="out"/>
        <c:minorTickMark val="none"/>
        <c:tickLblPos val="nextTo"/>
        <c:txPr>
          <a:bodyPr/>
          <a:lstStyle/>
          <a:p>
            <a:pPr>
              <a:defRPr sz="900"/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Relationship Id="rId3" Type="http://schemas.openxmlformats.org/officeDocument/2006/relationships/chart" Target="../charts/char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32B4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8961120" y="0"/>
            <a:ext cx="3246120" cy="6858000"/>
          </a:xfrm>
          <a:prstGeom prst="rect">
            <a:avLst/>
          </a:prstGeom>
          <a:solidFill>
            <a:srgbClr val="007D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9784080" y="0"/>
            <a:ext cx="2404872" cy="6858000"/>
          </a:xfrm>
          <a:prstGeom prst="rect">
            <a:avLst/>
          </a:prstGeom>
          <a:solidFill>
            <a:srgbClr val="132B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0515600" y="0"/>
            <a:ext cx="1673352" cy="6858000"/>
          </a:xfrm>
          <a:prstGeom prst="rect">
            <a:avLst/>
          </a:prstGeom>
          <a:solidFill>
            <a:srgbClr val="B0CD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685800"/>
            <a:ext cx="7589520" cy="32004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>
              <a:defRPr sz="1100" b="1">
                <a:solidFill>
                  <a:srgbClr val="B0CD5C"/>
                </a:solidFill>
                <a:latin typeface="Aptos"/>
              </a:defRPr>
            </a:pPr>
            <a:r>
              <a:t>PORTFOLIO PERFORMANCE &amp; COLLECTION STRATEGY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371600"/>
            <a:ext cx="7955279" cy="1371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>
              <a:defRPr sz="3100" b="1">
                <a:solidFill>
                  <a:srgbClr val="FFFFFF"/>
                </a:solidFill>
                <a:latin typeface="Aptos"/>
              </a:defRPr>
            </a:pPr>
            <a:r>
              <a:t>SINARMAS LAND</a:t>
            </a:r>
            <a:br/>
            <a:r>
              <a:t>IPL RECEIVABLES REVIEW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58952" y="3063240"/>
            <a:ext cx="7223760" cy="77724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>
              <a:defRPr sz="1800" b="0">
                <a:solidFill>
                  <a:srgbClr val="DCE6EA"/>
                </a:solidFill>
                <a:latin typeface="Aptos"/>
              </a:defRPr>
            </a:pPr>
            <a:r>
              <a:t>From invoice baseline to a focused six-month recovery plan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58952" y="5303520"/>
            <a:ext cx="7223760" cy="4572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>
              <a:defRPr sz="1100" b="0">
                <a:solidFill>
                  <a:srgbClr val="FFFFFF"/>
                </a:solidFill>
                <a:latin typeface="Aptos"/>
              </a:defRPr>
            </a:pPr>
            <a:r>
              <a:t>Consulting-style capstone | Reference date: 31 January 2025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58952" y="5806440"/>
            <a:ext cx="7223760" cy="32004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>
              <a:defRPr sz="1000" b="0">
                <a:solidFill>
                  <a:srgbClr val="BECDD4"/>
                </a:solidFill>
                <a:latin typeface="Aptos"/>
              </a:defRPr>
            </a:pPr>
            <a:r>
              <a:t>Prepared from the supplied analytical notebook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11155680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>
              <a:defRPr sz="900" b="1">
                <a:solidFill>
                  <a:srgbClr val="007D61"/>
                </a:solidFill>
                <a:latin typeface="Aptos"/>
              </a:defRPr>
            </a:pPr>
            <a:r>
              <a:t>EXECUTIVE 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66928"/>
            <a:ext cx="11064240" cy="5029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>
              <a:defRPr sz="2600" b="1">
                <a:solidFill>
                  <a:srgbClr val="132B42"/>
                </a:solidFill>
                <a:latin typeface="Aptos"/>
              </a:defRPr>
            </a:pPr>
            <a:r>
              <a:t>Daftar Isi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1115568"/>
            <a:ext cx="10972800" cy="36576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>
              <a:defRPr sz="1100" b="0">
                <a:solidFill>
                  <a:srgbClr val="5C6C76"/>
                </a:solidFill>
                <a:latin typeface="Aptos"/>
              </a:defRPr>
            </a:pPr>
            <a:r>
              <a:t>Alur presentasi mengikuti alur keputusan: ukur masalah, validasi data, temukan driver, lalu tentukan tindakan.</a:t>
            </a:r>
          </a:p>
        </p:txBody>
      </p:sp>
      <p:sp>
        <p:nvSpPr>
          <p:cNvPr id="5" name="Rectangle 4"/>
          <p:cNvSpPr/>
          <p:nvPr/>
        </p:nvSpPr>
        <p:spPr>
          <a:xfrm>
            <a:off x="530352" y="1572768"/>
            <a:ext cx="594360" cy="50292"/>
          </a:xfrm>
          <a:prstGeom prst="rect">
            <a:avLst/>
          </a:prstGeom>
          <a:solidFill>
            <a:srgbClr val="007D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30352" y="6537960"/>
            <a:ext cx="9875520" cy="16459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>
              <a:defRPr sz="800" b="0">
                <a:solidFill>
                  <a:srgbClr val="5C6C76"/>
                </a:solidFill>
                <a:latin typeface="Aptos"/>
              </a:defRPr>
            </a:pPr>
            <a:r>
              <a:t>SINARMAS LAND | IPL PORTFOLIO REVIEW | BASELINE 31 JAN 2025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510528"/>
            <a:ext cx="457200" cy="182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>
              <a:defRPr sz="900" b="1">
                <a:solidFill>
                  <a:srgbClr val="5C6C76"/>
                </a:solidFill>
                <a:latin typeface="Aptos"/>
              </a:defRPr>
            </a:pPr>
            <a:r>
              <a:t>02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1874519"/>
            <a:ext cx="548640" cy="4114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>
              <a:defRPr sz="1900" b="1">
                <a:solidFill>
                  <a:srgbClr val="007D61"/>
                </a:solidFill>
                <a:latin typeface="Aptos"/>
              </a:defRPr>
            </a:pPr>
            <a:r>
              <a:t>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25880" y="1874519"/>
            <a:ext cx="4480560" cy="32004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>
              <a:defRPr sz="1600" b="1">
                <a:solidFill>
                  <a:srgbClr val="132B42"/>
                </a:solidFill>
                <a:latin typeface="Aptos"/>
              </a:defRPr>
            </a:pPr>
            <a:r>
              <a:t>Business Understanding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25880" y="2221991"/>
            <a:ext cx="4663440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>
              <a:defRPr sz="1000" b="0">
                <a:solidFill>
                  <a:srgbClr val="5C6C76"/>
                </a:solidFill>
                <a:latin typeface="Aptos"/>
              </a:defRPr>
            </a:pPr>
            <a:r>
              <a:t>Mandat, pertanyaan bisnis, cakupan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309360" y="1874519"/>
            <a:ext cx="548640" cy="4114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>
              <a:defRPr sz="1900" b="1">
                <a:solidFill>
                  <a:srgbClr val="007D61"/>
                </a:solidFill>
                <a:latin typeface="Aptos"/>
              </a:defRPr>
            </a:pPr>
            <a:r>
              <a:t>02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949440" y="1874519"/>
            <a:ext cx="4480560" cy="32004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>
              <a:defRPr sz="1600" b="1">
                <a:solidFill>
                  <a:srgbClr val="132B42"/>
                </a:solidFill>
                <a:latin typeface="Aptos"/>
              </a:defRPr>
            </a:pPr>
            <a:r>
              <a:t>Data Understanding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949440" y="2221991"/>
            <a:ext cx="4663440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>
              <a:defRPr sz="1000" b="0">
                <a:solidFill>
                  <a:srgbClr val="5C6C76"/>
                </a:solidFill>
                <a:latin typeface="Aptos"/>
              </a:defRPr>
            </a:pPr>
            <a:r>
              <a:t>Lima tabel dan grain data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85800" y="2953511"/>
            <a:ext cx="548640" cy="4114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>
              <a:defRPr sz="1900" b="1">
                <a:solidFill>
                  <a:srgbClr val="007D61"/>
                </a:solidFill>
                <a:latin typeface="Aptos"/>
              </a:defRPr>
            </a:pPr>
            <a:r>
              <a:t>03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25880" y="2953511"/>
            <a:ext cx="4480560" cy="32004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>
              <a:defRPr sz="1600" b="1">
                <a:solidFill>
                  <a:srgbClr val="132B42"/>
                </a:solidFill>
                <a:latin typeface="Aptos"/>
              </a:defRPr>
            </a:pPr>
            <a:r>
              <a:t>Data Cleaning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25880" y="3300983"/>
            <a:ext cx="4663440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>
              <a:defRPr sz="1000" b="0">
                <a:solidFill>
                  <a:srgbClr val="5C6C76"/>
                </a:solidFill>
                <a:latin typeface="Aptos"/>
              </a:defRPr>
            </a:pPr>
            <a:r>
              <a:t>Aturan validasi dan baseline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309360" y="2953511"/>
            <a:ext cx="548640" cy="4114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>
              <a:defRPr sz="1900" b="1">
                <a:solidFill>
                  <a:srgbClr val="007D61"/>
                </a:solidFill>
                <a:latin typeface="Aptos"/>
              </a:defRPr>
            </a:pPr>
            <a:r>
              <a:t>04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949440" y="2953511"/>
            <a:ext cx="4480560" cy="32004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>
              <a:defRPr sz="1600" b="1">
                <a:solidFill>
                  <a:srgbClr val="132B42"/>
                </a:solidFill>
                <a:latin typeface="Aptos"/>
              </a:defRPr>
            </a:pPr>
            <a:r>
              <a:t>Exploratory Data Analysis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949440" y="3300983"/>
            <a:ext cx="4663440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>
              <a:defRPr sz="1000" b="0">
                <a:solidFill>
                  <a:srgbClr val="5C6C76"/>
                </a:solidFill>
                <a:latin typeface="Aptos"/>
              </a:defRPr>
            </a:pPr>
            <a:r>
              <a:t>Baseline, aging, segmen unit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85800" y="4032504"/>
            <a:ext cx="548640" cy="4114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>
              <a:defRPr sz="1900" b="1">
                <a:solidFill>
                  <a:srgbClr val="007D61"/>
                </a:solidFill>
                <a:latin typeface="Aptos"/>
              </a:defRPr>
            </a:pPr>
            <a:r>
              <a:t>05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325880" y="4032504"/>
            <a:ext cx="4480560" cy="32004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>
              <a:defRPr sz="1600" b="1">
                <a:solidFill>
                  <a:srgbClr val="132B42"/>
                </a:solidFill>
                <a:latin typeface="Aptos"/>
              </a:defRPr>
            </a:pPr>
            <a:r>
              <a:t>Diagnostic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325880" y="4379976"/>
            <a:ext cx="4663440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>
              <a:defRPr sz="1000" b="0">
                <a:solidFill>
                  <a:srgbClr val="5C6C76"/>
                </a:solidFill>
                <a:latin typeface="Aptos"/>
              </a:defRPr>
            </a:pPr>
            <a:r>
              <a:t>Sengketa, air, collection &amp; data gaps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309360" y="4032504"/>
            <a:ext cx="548640" cy="4114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>
              <a:defRPr sz="1900" b="1">
                <a:solidFill>
                  <a:srgbClr val="007D61"/>
                </a:solidFill>
                <a:latin typeface="Aptos"/>
              </a:defRPr>
            </a:pPr>
            <a:r>
              <a:t>06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949440" y="4032504"/>
            <a:ext cx="4480560" cy="32004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>
              <a:defRPr sz="1600" b="1">
                <a:solidFill>
                  <a:srgbClr val="132B42"/>
                </a:solidFill>
                <a:latin typeface="Aptos"/>
              </a:defRPr>
            </a:pPr>
            <a:r>
              <a:t>Conclusion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949440" y="4379976"/>
            <a:ext cx="4663440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>
              <a:defRPr sz="1000" b="0">
                <a:solidFill>
                  <a:srgbClr val="5C6C76"/>
                </a:solidFill>
                <a:latin typeface="Aptos"/>
              </a:defRPr>
            </a:pPr>
            <a:r>
              <a:t>Implikasi bisnis dan batas analisis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85800" y="5111496"/>
            <a:ext cx="548640" cy="4114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>
              <a:defRPr sz="1900" b="1">
                <a:solidFill>
                  <a:srgbClr val="007D61"/>
                </a:solidFill>
                <a:latin typeface="Aptos"/>
              </a:defRPr>
            </a:pPr>
            <a:r>
              <a:t>07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325880" y="5111496"/>
            <a:ext cx="4480560" cy="32004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>
              <a:defRPr sz="1600" b="1">
                <a:solidFill>
                  <a:srgbClr val="132B42"/>
                </a:solidFill>
                <a:latin typeface="Aptos"/>
              </a:defRPr>
            </a:pPr>
            <a:r>
              <a:t>Recommendation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325880" y="5458968"/>
            <a:ext cx="4663440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>
              <a:defRPr sz="1000" b="0">
                <a:solidFill>
                  <a:srgbClr val="5C6C76"/>
                </a:solidFill>
                <a:latin typeface="Aptos"/>
              </a:defRPr>
            </a:pPr>
            <a:r>
              <a:t>Rencana dua periode dan KPI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11155680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>
              <a:defRPr sz="900" b="1">
                <a:solidFill>
                  <a:srgbClr val="007D61"/>
                </a:solidFill>
                <a:latin typeface="Aptos"/>
              </a:defRPr>
            </a:pPr>
            <a:r>
              <a:t>01 | BUSINESS UNDERSTANDING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66928"/>
            <a:ext cx="11064240" cy="5029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>
              <a:defRPr sz="2600" b="1">
                <a:solidFill>
                  <a:srgbClr val="132B42"/>
                </a:solidFill>
                <a:latin typeface="Aptos"/>
              </a:defRPr>
            </a:pPr>
            <a:r>
              <a:t>Masalah bisnis: NPI tinggi dan data operasional belum cukup andal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1115568"/>
            <a:ext cx="10972800" cy="36576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>
              <a:defRPr sz="1100" b="0">
                <a:solidFill>
                  <a:srgbClr val="5C6C76"/>
                </a:solidFill>
                <a:latin typeface="Aptos"/>
              </a:defRPr>
            </a:pPr>
            <a:r>
              <a:t>Tujuan bukan sekadar menurunkan rasio—melainkan memisahkan pelunasan nyata dari koreksi administratif.</a:t>
            </a:r>
          </a:p>
        </p:txBody>
      </p:sp>
      <p:sp>
        <p:nvSpPr>
          <p:cNvPr id="5" name="Rectangle 4"/>
          <p:cNvSpPr/>
          <p:nvPr/>
        </p:nvSpPr>
        <p:spPr>
          <a:xfrm>
            <a:off x="530352" y="1572768"/>
            <a:ext cx="594360" cy="50292"/>
          </a:xfrm>
          <a:prstGeom prst="rect">
            <a:avLst/>
          </a:prstGeom>
          <a:solidFill>
            <a:srgbClr val="007D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30352" y="6537960"/>
            <a:ext cx="9875520" cy="16459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>
              <a:defRPr sz="800" b="0">
                <a:solidFill>
                  <a:srgbClr val="5C6C76"/>
                </a:solidFill>
                <a:latin typeface="Aptos"/>
              </a:defRPr>
            </a:pPr>
            <a:r>
              <a:t>SINARMAS LAND | IPL PORTFOLIO REVIEW | BASELINE 31 JAN 2025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510528"/>
            <a:ext cx="457200" cy="182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>
              <a:defRPr sz="900" b="1">
                <a:solidFill>
                  <a:srgbClr val="5C6C76"/>
                </a:solidFill>
                <a:latin typeface="Aptos"/>
              </a:defRPr>
            </a:pPr>
            <a:r>
              <a:t>03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85800" y="1874519"/>
            <a:ext cx="3429000" cy="1417320"/>
          </a:xfrm>
          <a:prstGeom prst="roundRect">
            <a:avLst/>
          </a:prstGeom>
          <a:solidFill>
            <a:srgbClr val="F0F5F3"/>
          </a:solidFill>
          <a:ln>
            <a:solidFill>
              <a:srgbClr val="F0F5F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85800" y="1874519"/>
            <a:ext cx="64008" cy="1417320"/>
          </a:xfrm>
          <a:prstGeom prst="rect">
            <a:avLst/>
          </a:prstGeom>
          <a:solidFill>
            <a:srgbClr val="007D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86968" y="2020824"/>
            <a:ext cx="3081528" cy="29260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>
              <a:defRPr sz="900" b="1">
                <a:solidFill>
                  <a:srgbClr val="5C6C76"/>
                </a:solidFill>
                <a:latin typeface="Aptos"/>
              </a:defRPr>
            </a:pPr>
            <a:r>
              <a:t>BASELINE NPI (B1)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86968" y="2359152"/>
            <a:ext cx="3081528" cy="5029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>
              <a:defRPr sz="2400" b="1">
                <a:solidFill>
                  <a:srgbClr val="132B42"/>
                </a:solidFill>
                <a:latin typeface="Aptos"/>
              </a:defRPr>
            </a:pPr>
            <a:r>
              <a:t>36.67%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86968" y="2852927"/>
            <a:ext cx="3063240" cy="32004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>
              <a:defRPr sz="900" b="0">
                <a:solidFill>
                  <a:srgbClr val="5C6C76"/>
                </a:solidFill>
                <a:latin typeface="Aptos"/>
              </a:defRPr>
            </a:pPr>
            <a:r>
              <a:t>289,981 invoice belum dibayar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370832" y="1874519"/>
            <a:ext cx="3429000" cy="1417320"/>
          </a:xfrm>
          <a:prstGeom prst="roundRect">
            <a:avLst/>
          </a:prstGeom>
          <a:solidFill>
            <a:srgbClr val="F0F5F3"/>
          </a:solidFill>
          <a:ln>
            <a:solidFill>
              <a:srgbClr val="F0F5F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370832" y="1874519"/>
            <a:ext cx="64008" cy="1417320"/>
          </a:xfrm>
          <a:prstGeom prst="rect">
            <a:avLst/>
          </a:prstGeom>
          <a:solidFill>
            <a:srgbClr val="DC8B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572000" y="2020824"/>
            <a:ext cx="3081528" cy="29260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>
              <a:defRPr sz="900" b="1">
                <a:solidFill>
                  <a:srgbClr val="5C6C76"/>
                </a:solidFill>
                <a:latin typeface="Aptos"/>
              </a:defRPr>
            </a:pPr>
            <a:r>
              <a:t>EKSPOSUR BELUM DIBAYAR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0" y="2359152"/>
            <a:ext cx="3081528" cy="5029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>
              <a:defRPr sz="2400" b="1">
                <a:solidFill>
                  <a:srgbClr val="132B42"/>
                </a:solidFill>
                <a:latin typeface="Aptos"/>
              </a:defRPr>
            </a:pPr>
            <a:r>
              <a:t>Rp230.33 miliar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0" y="2852927"/>
            <a:ext cx="3063240" cy="32004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>
              <a:defRPr sz="900" b="0">
                <a:solidFill>
                  <a:srgbClr val="5C6C76"/>
                </a:solidFill>
                <a:latin typeface="Aptos"/>
              </a:defRPr>
            </a:pPr>
            <a:r>
              <a:t>Nilai invoice NPI pada B1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046720" y="1874519"/>
            <a:ext cx="3429000" cy="1417320"/>
          </a:xfrm>
          <a:prstGeom prst="roundRect">
            <a:avLst/>
          </a:prstGeom>
          <a:solidFill>
            <a:srgbClr val="F0F5F3"/>
          </a:solidFill>
          <a:ln>
            <a:solidFill>
              <a:srgbClr val="F0F5F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8046720" y="1874519"/>
            <a:ext cx="64008" cy="1417320"/>
          </a:xfrm>
          <a:prstGeom prst="rect">
            <a:avLst/>
          </a:prstGeom>
          <a:solidFill>
            <a:srgbClr val="B545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247888" y="2020824"/>
            <a:ext cx="3081528" cy="29260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>
              <a:defRPr sz="900" b="1">
                <a:solidFill>
                  <a:srgbClr val="5C6C76"/>
                </a:solidFill>
                <a:latin typeface="Aptos"/>
              </a:defRPr>
            </a:pPr>
            <a:r>
              <a:t>AGING &gt;90 HARI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247888" y="2359152"/>
            <a:ext cx="3081528" cy="5029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>
              <a:defRPr sz="2400" b="1">
                <a:solidFill>
                  <a:srgbClr val="132B42"/>
                </a:solidFill>
                <a:latin typeface="Aptos"/>
              </a:defRPr>
            </a:pPr>
            <a:r>
              <a:t>89.15%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247888" y="2852927"/>
            <a:ext cx="3063240" cy="32004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>
              <a:defRPr sz="900" b="0">
                <a:solidFill>
                  <a:srgbClr val="5C6C76"/>
                </a:solidFill>
                <a:latin typeface="Aptos"/>
              </a:defRPr>
            </a:pPr>
            <a:r>
              <a:t>Dari nilai belum dibayar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31520" y="3703320"/>
            <a:ext cx="5212080" cy="32004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>
              <a:defRPr sz="1100" b="1">
                <a:solidFill>
                  <a:srgbClr val="007D61"/>
                </a:solidFill>
                <a:latin typeface="Aptos"/>
              </a:defRPr>
            </a:pPr>
            <a:r>
              <a:t>KEPUTUSAN YANG HARUS DIDUKUNG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77240" y="4069080"/>
            <a:ext cx="5074920" cy="1645920"/>
          </a:xfrm>
          <a:prstGeom prst="rect">
            <a:avLst/>
          </a:prstGeom>
          <a:noFill/>
        </p:spPr>
        <p:txBody>
          <a:bodyPr wrap="square" lIns="18288" rIns="36576" tIns="27432" bIns="18288">
            <a:spAutoFit/>
          </a:bodyPr>
          <a:lstStyle/>
          <a:p>
            <a:pPr>
              <a:spcAft>
                <a:spcPts val="800"/>
              </a:spcAft>
              <a:defRPr sz="1400">
                <a:solidFill>
                  <a:srgbClr val="222D34"/>
                </a:solidFill>
                <a:latin typeface="Aptos"/>
              </a:defRPr>
            </a:pPr>
            <a:r>
              <a:t>Berapa NPI setelah aturan validitas tagihan diterapkan?</a:t>
            </a:r>
          </a:p>
          <a:p>
            <a:pPr>
              <a:spcAft>
                <a:spcPts val="800"/>
              </a:spcAft>
              <a:defRPr sz="1400">
                <a:solidFill>
                  <a:srgbClr val="222D34"/>
                </a:solidFill>
                <a:latin typeface="Aptos"/>
              </a:defRPr>
            </a:pPr>
            <a:r>
              <a:t>Segmen unit dan cluster mana yang perlu diprioritaskan?</a:t>
            </a:r>
          </a:p>
          <a:p>
            <a:pPr>
              <a:spcAft>
                <a:spcPts val="800"/>
              </a:spcAft>
              <a:defRPr sz="1400">
                <a:solidFill>
                  <a:srgbClr val="222D34"/>
                </a:solidFill>
                <a:latin typeface="Aptos"/>
              </a:defRPr>
            </a:pPr>
            <a:r>
              <a:t>Kasus mana yang harus direkonsiliasi sebelum ditagih?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263640" y="3703320"/>
            <a:ext cx="5029200" cy="32004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>
              <a:defRPr sz="1100" b="1">
                <a:solidFill>
                  <a:srgbClr val="007D61"/>
                </a:solidFill>
                <a:latin typeface="Aptos"/>
              </a:defRPr>
            </a:pPr>
            <a:r>
              <a:t>PRINSIP PENGUKURAN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309360" y="4069080"/>
            <a:ext cx="5029200" cy="1645920"/>
          </a:xfrm>
          <a:prstGeom prst="rect">
            <a:avLst/>
          </a:prstGeom>
          <a:noFill/>
        </p:spPr>
        <p:txBody>
          <a:bodyPr wrap="square" lIns="18288" rIns="36576" tIns="27432" bIns="18288">
            <a:spAutoFit/>
          </a:bodyPr>
          <a:lstStyle/>
          <a:p>
            <a:pPr>
              <a:spcAft>
                <a:spcPts val="800"/>
              </a:spcAft>
              <a:defRPr sz="1400">
                <a:solidFill>
                  <a:srgbClr val="222D34"/>
                </a:solidFill>
                <a:latin typeface="Aptos"/>
              </a:defRPr>
            </a:pPr>
            <a:r>
              <a:t>Pembatalan bukan kas masuk.</a:t>
            </a:r>
          </a:p>
          <a:p>
            <a:pPr>
              <a:spcAft>
                <a:spcPts val="800"/>
              </a:spcAft>
              <a:defRPr sz="1400">
                <a:solidFill>
                  <a:srgbClr val="222D34"/>
                </a:solidFill>
                <a:latin typeface="Aptos"/>
              </a:defRPr>
            </a:pPr>
            <a:r>
              <a:t>NPI dihitung pada tingkat invoice.</a:t>
            </a:r>
          </a:p>
          <a:p>
            <a:pPr>
              <a:spcAft>
                <a:spcPts val="800"/>
              </a:spcAft>
              <a:defRPr sz="1400">
                <a:solidFill>
                  <a:srgbClr val="222D34"/>
                </a:solidFill>
                <a:latin typeface="Aptos"/>
              </a:defRPr>
            </a:pPr>
            <a:r>
              <a:t>Klaim lunas perlu dicocokkan dengan bukti dan status sistem.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11155680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>
              <a:defRPr sz="900" b="1">
                <a:solidFill>
                  <a:srgbClr val="007D61"/>
                </a:solidFill>
                <a:latin typeface="Aptos"/>
              </a:defRPr>
            </a:pPr>
            <a:r>
              <a:t>02 | DATA UNDERSTANDING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66928"/>
            <a:ext cx="11064240" cy="5029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>
              <a:defRPr sz="2600" b="1">
                <a:solidFill>
                  <a:srgbClr val="132B42"/>
                </a:solidFill>
                <a:latin typeface="Aptos"/>
              </a:defRPr>
            </a:pPr>
            <a:r>
              <a:t>Lima tabel, lima peran data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1115568"/>
            <a:ext cx="10972800" cy="36576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>
              <a:defRPr sz="1100" b="0">
                <a:solidFill>
                  <a:srgbClr val="5C6C76"/>
                </a:solidFill>
                <a:latin typeface="Aptos"/>
              </a:defRPr>
            </a:pPr>
            <a:r>
              <a:t>Analisis menggabungkan data pada tingkat berbeda; penggabungan tanpa agregasi berisiko menggandakan nilai invoice.</a:t>
            </a:r>
          </a:p>
        </p:txBody>
      </p:sp>
      <p:sp>
        <p:nvSpPr>
          <p:cNvPr id="5" name="Rectangle 4"/>
          <p:cNvSpPr/>
          <p:nvPr/>
        </p:nvSpPr>
        <p:spPr>
          <a:xfrm>
            <a:off x="530352" y="1572768"/>
            <a:ext cx="594360" cy="50292"/>
          </a:xfrm>
          <a:prstGeom prst="rect">
            <a:avLst/>
          </a:prstGeom>
          <a:solidFill>
            <a:srgbClr val="007D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30352" y="6537960"/>
            <a:ext cx="9875520" cy="16459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>
              <a:defRPr sz="800" b="0">
                <a:solidFill>
                  <a:srgbClr val="5C6C76"/>
                </a:solidFill>
                <a:latin typeface="Aptos"/>
              </a:defRPr>
            </a:pPr>
            <a:r>
              <a:t>SINARMAS LAND | IPL PORTFOLIO REVIEW | BASELINE 31 JAN 2025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510528"/>
            <a:ext cx="457200" cy="182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>
              <a:defRPr sz="900" b="1">
                <a:solidFill>
                  <a:srgbClr val="5C6C76"/>
                </a:solidFill>
                <a:latin typeface="Aptos"/>
              </a:defRPr>
            </a:pPr>
            <a:r>
              <a:t>04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1874519"/>
            <a:ext cx="10698480" cy="585216"/>
          </a:xfrm>
          <a:prstGeom prst="roundRect">
            <a:avLst/>
          </a:prstGeom>
          <a:solidFill>
            <a:srgbClr val="F0F5F3"/>
          </a:solidFill>
          <a:ln>
            <a:solidFill>
              <a:srgbClr val="DDE9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1984248"/>
            <a:ext cx="2377440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>
              <a:defRPr sz="1200" b="1">
                <a:solidFill>
                  <a:srgbClr val="132B42"/>
                </a:solidFill>
                <a:latin typeface="Aptos"/>
              </a:defRPr>
            </a:pPr>
            <a:r>
              <a:t>sml_units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474720" y="1984248"/>
            <a:ext cx="2103120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>
              <a:defRPr sz="1100" b="1">
                <a:solidFill>
                  <a:srgbClr val="007D61"/>
                </a:solidFill>
                <a:latin typeface="Aptos"/>
              </a:defRPr>
            </a:pPr>
            <a:r>
              <a:t>Master unit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669280" y="1984248"/>
            <a:ext cx="5486400" cy="29260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>
              <a:defRPr sz="1100" b="0">
                <a:solidFill>
                  <a:srgbClr val="222D34"/>
                </a:solidFill>
                <a:latin typeface="Aptos"/>
              </a:defRPr>
            </a:pPr>
            <a:r>
              <a:t>Karakteristik unit, kontak, kosong/autodebit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31520" y="2624327"/>
            <a:ext cx="10698480" cy="585216"/>
          </a:xfrm>
          <a:prstGeom prst="roundRect">
            <a:avLst/>
          </a:prstGeom>
          <a:solidFill>
            <a:srgbClr val="FFFFFF"/>
          </a:solidFill>
          <a:ln>
            <a:solidFill>
              <a:srgbClr val="DDE9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14400" y="2734056"/>
            <a:ext cx="2377440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>
              <a:defRPr sz="1200" b="1">
                <a:solidFill>
                  <a:srgbClr val="132B42"/>
                </a:solidFill>
                <a:latin typeface="Aptos"/>
              </a:defRPr>
            </a:pPr>
            <a:r>
              <a:t>sml_clusters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474720" y="2734056"/>
            <a:ext cx="2103120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>
              <a:defRPr sz="1100" b="1">
                <a:solidFill>
                  <a:srgbClr val="007D61"/>
                </a:solidFill>
                <a:latin typeface="Aptos"/>
              </a:defRPr>
            </a:pPr>
            <a:r>
              <a:t>Master cluster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669280" y="2734056"/>
            <a:ext cx="5486400" cy="29260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>
              <a:defRPr sz="1100" b="0">
                <a:solidFill>
                  <a:srgbClr val="222D34"/>
                </a:solidFill>
                <a:latin typeface="Aptos"/>
              </a:defRPr>
            </a:pPr>
            <a:r>
              <a:t>Atribut cluster dan kategori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31520" y="3374135"/>
            <a:ext cx="10698480" cy="585216"/>
          </a:xfrm>
          <a:prstGeom prst="roundRect">
            <a:avLst/>
          </a:prstGeom>
          <a:solidFill>
            <a:srgbClr val="F0F5F3"/>
          </a:solidFill>
          <a:ln>
            <a:solidFill>
              <a:srgbClr val="DDE9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14400" y="3483863"/>
            <a:ext cx="2377440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>
              <a:defRPr sz="1200" b="1">
                <a:solidFill>
                  <a:srgbClr val="132B42"/>
                </a:solidFill>
                <a:latin typeface="Aptos"/>
              </a:defRPr>
            </a:pPr>
            <a:r>
              <a:t>sml_ipl_billings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474720" y="3483863"/>
            <a:ext cx="2103120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>
              <a:defRPr sz="1100" b="1">
                <a:solidFill>
                  <a:srgbClr val="007D61"/>
                </a:solidFill>
                <a:latin typeface="Aptos"/>
              </a:defRPr>
            </a:pPr>
            <a:r>
              <a:t>Invoice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669280" y="3483863"/>
            <a:ext cx="5486400" cy="29260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>
              <a:defRPr sz="1100" b="0">
                <a:solidFill>
                  <a:srgbClr val="222D34"/>
                </a:solidFill>
                <a:latin typeface="Aptos"/>
              </a:defRPr>
            </a:pPr>
            <a:r>
              <a:t>Nominal, due date, status, air, pembayaran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31520" y="4123944"/>
            <a:ext cx="10698480" cy="585216"/>
          </a:xfrm>
          <a:prstGeom prst="roundRect">
            <a:avLst/>
          </a:prstGeom>
          <a:solidFill>
            <a:srgbClr val="FFFFFF"/>
          </a:solidFill>
          <a:ln>
            <a:solidFill>
              <a:srgbClr val="DDE9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14400" y="4233672"/>
            <a:ext cx="2377440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>
              <a:defRPr sz="1200" b="1">
                <a:solidFill>
                  <a:srgbClr val="132B42"/>
                </a:solidFill>
                <a:latin typeface="Aptos"/>
              </a:defRPr>
            </a:pPr>
            <a:r>
              <a:t>sml_payment_disputes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474720" y="4233672"/>
            <a:ext cx="2103120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>
              <a:defRPr sz="1100" b="1">
                <a:solidFill>
                  <a:srgbClr val="007D61"/>
                </a:solidFill>
                <a:latin typeface="Aptos"/>
              </a:defRPr>
            </a:pPr>
            <a:r>
              <a:t>Sengketa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669280" y="4233672"/>
            <a:ext cx="5486400" cy="29260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>
              <a:defRPr sz="1100" b="0">
                <a:solidFill>
                  <a:srgbClr val="222D34"/>
                </a:solidFill>
                <a:latin typeface="Aptos"/>
              </a:defRPr>
            </a:pPr>
            <a:r>
              <a:t>Alasan, status resolusi, koreksi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731520" y="4873752"/>
            <a:ext cx="10698480" cy="585216"/>
          </a:xfrm>
          <a:prstGeom prst="roundRect">
            <a:avLst/>
          </a:prstGeom>
          <a:solidFill>
            <a:srgbClr val="F0F5F3"/>
          </a:solidFill>
          <a:ln>
            <a:solidFill>
              <a:srgbClr val="DDE9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14400" y="4983480"/>
            <a:ext cx="2377440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>
              <a:defRPr sz="1200" b="1">
                <a:solidFill>
                  <a:srgbClr val="132B42"/>
                </a:solidFill>
                <a:latin typeface="Aptos"/>
              </a:defRPr>
            </a:pPr>
            <a:r>
              <a:t>sml_collection_actions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474720" y="4983480"/>
            <a:ext cx="2103120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>
              <a:defRPr sz="1100" b="1">
                <a:solidFill>
                  <a:srgbClr val="007D61"/>
                </a:solidFill>
                <a:latin typeface="Aptos"/>
              </a:defRPr>
            </a:pPr>
            <a:r>
              <a:t>Aktivitas collection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669280" y="4983480"/>
            <a:ext cx="5486400" cy="29260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>
              <a:defRPr sz="1100" b="0">
                <a:solidFill>
                  <a:srgbClr val="222D34"/>
                </a:solidFill>
                <a:latin typeface="Aptos"/>
              </a:defRPr>
            </a:pPr>
            <a:r>
              <a:t>Kanal/tindakan, respons, tanggal, agen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77240" y="5806440"/>
            <a:ext cx="10515600" cy="32004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>
              <a:defRPr sz="1100" b="1">
                <a:solidFill>
                  <a:srgbClr val="5C6C76"/>
                </a:solidFill>
                <a:latin typeface="Aptos"/>
              </a:defRPr>
            </a:pPr>
            <a:r>
              <a:t>Grain utama analisis: satu baris per invoice; tindakan dan sengketa dianalisis terpisah agar nominal tidak berlipat.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11155680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>
              <a:defRPr sz="900" b="1">
                <a:solidFill>
                  <a:srgbClr val="007D61"/>
                </a:solidFill>
                <a:latin typeface="Aptos"/>
              </a:defRPr>
            </a:pPr>
            <a:r>
              <a:t>03 | DATA CLEANING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66928"/>
            <a:ext cx="11064240" cy="5029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>
              <a:defRPr sz="2600" b="1">
                <a:solidFill>
                  <a:srgbClr val="132B42"/>
                </a:solidFill>
                <a:latin typeface="Aptos"/>
              </a:defRPr>
            </a:pPr>
            <a:r>
              <a:t>Cleaning berfokus pada validitas, bukan menghapus semua anomali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1115568"/>
            <a:ext cx="10972800" cy="36576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>
              <a:defRPr sz="1100" b="0">
                <a:solidFill>
                  <a:srgbClr val="5C6C76"/>
                </a:solidFill>
                <a:latin typeface="Aptos"/>
              </a:defRPr>
            </a:pPr>
            <a:r>
              <a:t>Sumber dipertahankan; keputusan analitis dibuat eksplisit agar baseline dapat diaudit.</a:t>
            </a:r>
          </a:p>
        </p:txBody>
      </p:sp>
      <p:sp>
        <p:nvSpPr>
          <p:cNvPr id="5" name="Rectangle 4"/>
          <p:cNvSpPr/>
          <p:nvPr/>
        </p:nvSpPr>
        <p:spPr>
          <a:xfrm>
            <a:off x="530352" y="1572768"/>
            <a:ext cx="594360" cy="50292"/>
          </a:xfrm>
          <a:prstGeom prst="rect">
            <a:avLst/>
          </a:prstGeom>
          <a:solidFill>
            <a:srgbClr val="007D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30352" y="6537960"/>
            <a:ext cx="9875520" cy="16459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>
              <a:defRPr sz="800" b="0">
                <a:solidFill>
                  <a:srgbClr val="5C6C76"/>
                </a:solidFill>
                <a:latin typeface="Aptos"/>
              </a:defRPr>
            </a:pPr>
            <a:r>
              <a:t>SINARMAS LAND | IPL PORTFOLIO REVIEW | BASELINE 31 JAN 2025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510528"/>
            <a:ext cx="457200" cy="182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>
              <a:defRPr sz="900" b="1">
                <a:solidFill>
                  <a:srgbClr val="5C6C76"/>
                </a:solidFill>
                <a:latin typeface="Aptos"/>
              </a:defRPr>
            </a:pPr>
            <a:r>
              <a:t>05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1874519"/>
            <a:ext cx="502920" cy="36576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>
              <a:defRPr sz="1700" b="1">
                <a:solidFill>
                  <a:srgbClr val="007D61"/>
                </a:solidFill>
                <a:latin typeface="Aptos"/>
              </a:defRPr>
            </a:pPr>
            <a:r>
              <a:t>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25880" y="1874519"/>
            <a:ext cx="4480560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>
              <a:defRPr sz="1400" b="1">
                <a:solidFill>
                  <a:srgbClr val="132B42"/>
                </a:solidFill>
                <a:latin typeface="Aptos"/>
              </a:defRPr>
            </a:pPr>
            <a:r>
              <a:t>Standardisasi tipe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25880" y="2203703"/>
            <a:ext cx="4572000" cy="56692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>
              <a:defRPr sz="1000" b="0">
                <a:solidFill>
                  <a:srgbClr val="5C6C76"/>
                </a:solidFill>
                <a:latin typeface="Aptos"/>
              </a:defRPr>
            </a:pPr>
            <a:r>
              <a:t>ID/kontak sebagai teks; nominal numerik; tanggal datetime.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309359" y="1874519"/>
            <a:ext cx="502920" cy="36576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>
              <a:defRPr sz="1700" b="1">
                <a:solidFill>
                  <a:srgbClr val="007D61"/>
                </a:solidFill>
                <a:latin typeface="Aptos"/>
              </a:defRPr>
            </a:pPr>
            <a:r>
              <a:t>02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903720" y="1874519"/>
            <a:ext cx="4480560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>
              <a:defRPr sz="1400" b="1">
                <a:solidFill>
                  <a:srgbClr val="132B42"/>
                </a:solidFill>
                <a:latin typeface="Aptos"/>
              </a:defRPr>
            </a:pPr>
            <a:r>
              <a:t>Normalisasi kanal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903720" y="2203703"/>
            <a:ext cx="4572000" cy="56692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>
              <a:defRPr sz="1000" b="0">
                <a:solidFill>
                  <a:srgbClr val="5C6C76"/>
                </a:solidFill>
                <a:latin typeface="Aptos"/>
              </a:defRPr>
            </a:pPr>
            <a:r>
              <a:t>Variasi label metode pembayaran dipetakan; label tak dikenal ditandai.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1520" y="3108960"/>
            <a:ext cx="502920" cy="36576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>
              <a:defRPr sz="1700" b="1">
                <a:solidFill>
                  <a:srgbClr val="007D61"/>
                </a:solidFill>
                <a:latin typeface="Aptos"/>
              </a:defRPr>
            </a:pPr>
            <a:r>
              <a:t>03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25880" y="3108960"/>
            <a:ext cx="4480560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>
              <a:defRPr sz="1400" b="1">
                <a:solidFill>
                  <a:srgbClr val="132B42"/>
                </a:solidFill>
                <a:latin typeface="Aptos"/>
              </a:defRPr>
            </a:pPr>
            <a:r>
              <a:t>Validasi relasi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25880" y="3438144"/>
            <a:ext cx="4572000" cy="56692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>
              <a:defRPr sz="1000" b="0">
                <a:solidFill>
                  <a:srgbClr val="5C6C76"/>
                </a:solidFill>
                <a:latin typeface="Aptos"/>
              </a:defRPr>
            </a:pPr>
            <a:r>
              <a:t>Periksa kunci berulang dan referensi tanpa pasangan sebelum join.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309359" y="3108960"/>
            <a:ext cx="502920" cy="36576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>
              <a:defRPr sz="1700" b="1">
                <a:solidFill>
                  <a:srgbClr val="007D61"/>
                </a:solidFill>
                <a:latin typeface="Aptos"/>
              </a:defRPr>
            </a:pPr>
            <a:r>
              <a:t>04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903720" y="3108960"/>
            <a:ext cx="4480560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>
              <a:defRPr sz="1400" b="1">
                <a:solidFill>
                  <a:srgbClr val="132B42"/>
                </a:solidFill>
                <a:latin typeface="Aptos"/>
              </a:defRPr>
            </a:pPr>
            <a:r>
              <a:t>Satu baris per invoice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903720" y="3438144"/>
            <a:ext cx="4572000" cy="56692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>
              <a:defRPr sz="1000" b="0">
                <a:solidFill>
                  <a:srgbClr val="5C6C76"/>
                </a:solidFill>
                <a:latin typeface="Aptos"/>
              </a:defRPr>
            </a:pPr>
            <a:r>
              <a:t>Riwayat collection dan sengketa diringkas terpisah.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31520" y="4343400"/>
            <a:ext cx="502920" cy="36576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>
              <a:defRPr sz="1700" b="1">
                <a:solidFill>
                  <a:srgbClr val="007D61"/>
                </a:solidFill>
                <a:latin typeface="Aptos"/>
              </a:defRPr>
            </a:pPr>
            <a:r>
              <a:t>05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325880" y="4343400"/>
            <a:ext cx="4480560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>
              <a:defRPr sz="1400" b="1">
                <a:solidFill>
                  <a:srgbClr val="132B42"/>
                </a:solidFill>
                <a:latin typeface="Aptos"/>
              </a:defRPr>
            </a:pPr>
            <a:r>
              <a:t>Flag risiko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325880" y="4672584"/>
            <a:ext cx="4572000" cy="56692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>
              <a:defRPr sz="1000" b="0">
                <a:solidFill>
                  <a:srgbClr val="5C6C76"/>
                </a:solidFill>
                <a:latin typeface="Aptos"/>
              </a:defRPr>
            </a:pPr>
            <a:r>
              <a:t>Kontak kosong, invoice berulang per unit-bulan, tanggal janggal, air negatif/ekstrem.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309359" y="4343400"/>
            <a:ext cx="502920" cy="36576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>
              <a:defRPr sz="1700" b="1">
                <a:solidFill>
                  <a:srgbClr val="007D61"/>
                </a:solidFill>
                <a:latin typeface="Aptos"/>
              </a:defRPr>
            </a:pPr>
            <a:r>
              <a:t>06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903720" y="4343400"/>
            <a:ext cx="4480560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>
              <a:defRPr sz="1400" b="1">
                <a:solidFill>
                  <a:srgbClr val="132B42"/>
                </a:solidFill>
                <a:latin typeface="Aptos"/>
              </a:defRPr>
            </a:pPr>
            <a:r>
              <a:t>Aturan pembatalan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903720" y="4672584"/>
            <a:ext cx="4572000" cy="56692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>
              <a:defRPr sz="1000" b="0">
                <a:solidFill>
                  <a:srgbClr val="5C6C76"/>
                </a:solidFill>
                <a:latin typeface="Aptos"/>
              </a:defRPr>
            </a:pPr>
            <a:r>
              <a:t>Pengecualian hanya jika status, nilai koreksi, tanggal selesai, dan relasi ID cocok.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77240" y="5806440"/>
            <a:ext cx="10515600" cy="32004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>
              <a:defRPr sz="1100" b="1">
                <a:solidFill>
                  <a:srgbClr val="B54541"/>
                </a:solidFill>
                <a:latin typeface="Aptos"/>
              </a:defRPr>
            </a:pPr>
            <a:r>
              <a:t>Prinsip: nilai janggal diberi flag untuk pemeriksaan; tidak otomatis diganti median atau dianggap salah.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11155680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>
              <a:defRPr sz="900" b="1">
                <a:solidFill>
                  <a:srgbClr val="007D61"/>
                </a:solidFill>
                <a:latin typeface="Aptos"/>
              </a:defRPr>
            </a:pPr>
            <a:r>
              <a:t>04 | EDA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66928"/>
            <a:ext cx="11064240" cy="5029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>
              <a:defRPr sz="2600" b="1">
                <a:solidFill>
                  <a:srgbClr val="132B42"/>
                </a:solidFill>
                <a:latin typeface="Aptos"/>
              </a:defRPr>
            </a:pPr>
            <a:r>
              <a:t>Baseline: NPI 36.67% setelah rekonsiliasi administratif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1115568"/>
            <a:ext cx="10972800" cy="36576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>
              <a:defRPr sz="1100" b="0">
                <a:solidFill>
                  <a:srgbClr val="5C6C76"/>
                </a:solidFill>
                <a:latin typeface="Aptos"/>
              </a:defRPr>
            </a:pPr>
            <a:r>
              <a:t>B1 menjadi baseline kerja; perubahan B0 ke B1 tidak boleh diklaim sebagai recovery cash.</a:t>
            </a:r>
          </a:p>
        </p:txBody>
      </p:sp>
      <p:sp>
        <p:nvSpPr>
          <p:cNvPr id="5" name="Rectangle 4"/>
          <p:cNvSpPr/>
          <p:nvPr/>
        </p:nvSpPr>
        <p:spPr>
          <a:xfrm>
            <a:off x="530352" y="1572768"/>
            <a:ext cx="594360" cy="50292"/>
          </a:xfrm>
          <a:prstGeom prst="rect">
            <a:avLst/>
          </a:prstGeom>
          <a:solidFill>
            <a:srgbClr val="007D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30352" y="6537960"/>
            <a:ext cx="9875520" cy="16459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>
              <a:defRPr sz="800" b="0">
                <a:solidFill>
                  <a:srgbClr val="5C6C76"/>
                </a:solidFill>
                <a:latin typeface="Aptos"/>
              </a:defRPr>
            </a:pPr>
            <a:r>
              <a:t>SINARMAS LAND | IPL PORTFOLIO REVIEW | BASELINE 31 JAN 2025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510528"/>
            <a:ext cx="457200" cy="182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>
              <a:defRPr sz="900" b="1">
                <a:solidFill>
                  <a:srgbClr val="5C6C76"/>
                </a:solidFill>
                <a:latin typeface="Aptos"/>
              </a:defRPr>
            </a:pPr>
            <a:r>
              <a:t>06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85800" y="1874519"/>
            <a:ext cx="2606040" cy="1417320"/>
          </a:xfrm>
          <a:prstGeom prst="roundRect">
            <a:avLst/>
          </a:prstGeom>
          <a:solidFill>
            <a:srgbClr val="F0F5F3"/>
          </a:solidFill>
          <a:ln>
            <a:solidFill>
              <a:srgbClr val="F0F5F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85800" y="1874519"/>
            <a:ext cx="64008" cy="1417320"/>
          </a:xfrm>
          <a:prstGeom prst="rect">
            <a:avLst/>
          </a:prstGeom>
          <a:solidFill>
            <a:srgbClr val="5C6C7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86968" y="2020824"/>
            <a:ext cx="2258568" cy="29260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>
              <a:defRPr sz="900" b="1">
                <a:solidFill>
                  <a:srgbClr val="5C6C76"/>
                </a:solidFill>
                <a:latin typeface="Aptos"/>
              </a:defRPr>
            </a:pPr>
            <a:r>
              <a:t>B0 INVOICE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86968" y="2359152"/>
            <a:ext cx="2258568" cy="5029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>
              <a:defRPr sz="2400" b="1">
                <a:solidFill>
                  <a:srgbClr val="132B42"/>
                </a:solidFill>
                <a:latin typeface="Aptos"/>
              </a:defRPr>
            </a:pPr>
            <a:r>
              <a:t>807,427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86968" y="2852927"/>
            <a:ext cx="2240280" cy="32004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>
              <a:defRPr sz="900" b="0">
                <a:solidFill>
                  <a:srgbClr val="5C6C76"/>
                </a:solidFill>
                <a:latin typeface="Aptos"/>
              </a:defRPr>
            </a:pPr>
            <a:r>
              <a:t>Populasi sebelum pengecualian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456432" y="1874519"/>
            <a:ext cx="2606040" cy="1417320"/>
          </a:xfrm>
          <a:prstGeom prst="roundRect">
            <a:avLst/>
          </a:prstGeom>
          <a:solidFill>
            <a:srgbClr val="F0F5F3"/>
          </a:solidFill>
          <a:ln>
            <a:solidFill>
              <a:srgbClr val="F0F5F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3456432" y="1874519"/>
            <a:ext cx="64008" cy="1417320"/>
          </a:xfrm>
          <a:prstGeom prst="rect">
            <a:avLst/>
          </a:prstGeom>
          <a:solidFill>
            <a:srgbClr val="DC8B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657600" y="2020824"/>
            <a:ext cx="2258568" cy="29260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>
              <a:defRPr sz="900" b="1">
                <a:solidFill>
                  <a:srgbClr val="5C6C76"/>
                </a:solidFill>
                <a:latin typeface="Aptos"/>
              </a:defRPr>
            </a:pPr>
            <a:r>
              <a:t>B0 NPI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657600" y="2359152"/>
            <a:ext cx="2258568" cy="5029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>
              <a:defRPr sz="2400" b="1">
                <a:solidFill>
                  <a:srgbClr val="132B42"/>
                </a:solidFill>
                <a:latin typeface="Aptos"/>
              </a:defRPr>
            </a:pPr>
            <a:r>
              <a:t>36.96%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657600" y="2852927"/>
            <a:ext cx="2240280" cy="32004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>
              <a:defRPr sz="900" b="0">
                <a:solidFill>
                  <a:srgbClr val="5C6C76"/>
                </a:solidFill>
                <a:latin typeface="Aptos"/>
              </a:defRPr>
            </a:pPr>
            <a:r>
              <a:t>298,426 invoice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236208" y="1874519"/>
            <a:ext cx="2606040" cy="1417320"/>
          </a:xfrm>
          <a:prstGeom prst="roundRect">
            <a:avLst/>
          </a:prstGeom>
          <a:solidFill>
            <a:srgbClr val="F0F5F3"/>
          </a:solidFill>
          <a:ln>
            <a:solidFill>
              <a:srgbClr val="F0F5F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236208" y="1874519"/>
            <a:ext cx="64008" cy="1417320"/>
          </a:xfrm>
          <a:prstGeom prst="rect">
            <a:avLst/>
          </a:prstGeom>
          <a:solidFill>
            <a:srgbClr val="007D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437376" y="2020824"/>
            <a:ext cx="2258568" cy="29260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>
              <a:defRPr sz="900" b="1">
                <a:solidFill>
                  <a:srgbClr val="5C6C76"/>
                </a:solidFill>
                <a:latin typeface="Aptos"/>
              </a:defRPr>
            </a:pPr>
            <a:r>
              <a:t>B1 INVOICE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37376" y="2359152"/>
            <a:ext cx="2258568" cy="5029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>
              <a:defRPr sz="2400" b="1">
                <a:solidFill>
                  <a:srgbClr val="132B42"/>
                </a:solidFill>
                <a:latin typeface="Aptos"/>
              </a:defRPr>
            </a:pPr>
            <a:r>
              <a:t>790,817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37376" y="2852927"/>
            <a:ext cx="2240280" cy="32004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>
              <a:defRPr sz="900" b="0">
                <a:solidFill>
                  <a:srgbClr val="5C6C76"/>
                </a:solidFill>
                <a:latin typeface="Aptos"/>
              </a:defRPr>
            </a:pPr>
            <a:r>
              <a:t>Setelah pengecualian terkonfirmasi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9006840" y="1874519"/>
            <a:ext cx="2514600" cy="1417320"/>
          </a:xfrm>
          <a:prstGeom prst="roundRect">
            <a:avLst/>
          </a:prstGeom>
          <a:solidFill>
            <a:srgbClr val="F0F5F3"/>
          </a:solidFill>
          <a:ln>
            <a:solidFill>
              <a:srgbClr val="F0F5F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9006840" y="1874519"/>
            <a:ext cx="64008" cy="1417320"/>
          </a:xfrm>
          <a:prstGeom prst="rect">
            <a:avLst/>
          </a:prstGeom>
          <a:solidFill>
            <a:srgbClr val="007D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208008" y="2020824"/>
            <a:ext cx="2167128" cy="29260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>
              <a:defRPr sz="900" b="1">
                <a:solidFill>
                  <a:srgbClr val="5C6C76"/>
                </a:solidFill>
                <a:latin typeface="Aptos"/>
              </a:defRPr>
            </a:pPr>
            <a:r>
              <a:t>B1 NPI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208008" y="2359152"/>
            <a:ext cx="2167128" cy="5029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>
              <a:defRPr sz="2400" b="1">
                <a:solidFill>
                  <a:srgbClr val="132B42"/>
                </a:solidFill>
                <a:latin typeface="Aptos"/>
              </a:defRPr>
            </a:pPr>
            <a:r>
              <a:t>36.67%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208008" y="2852927"/>
            <a:ext cx="2148840" cy="32004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>
              <a:defRPr sz="900" b="0">
                <a:solidFill>
                  <a:srgbClr val="5C6C76"/>
                </a:solidFill>
                <a:latin typeface="Aptos"/>
              </a:defRPr>
            </a:pPr>
            <a:r>
              <a:t>289,981 invoice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22960" y="3794760"/>
            <a:ext cx="4846320" cy="32004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>
              <a:defRPr sz="1100" b="1">
                <a:solidFill>
                  <a:srgbClr val="007D61"/>
                </a:solidFill>
                <a:latin typeface="Aptos"/>
              </a:defRPr>
            </a:pPr>
            <a:r>
              <a:t>REKONSILIASI B0 → B1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68680" y="4160520"/>
            <a:ext cx="4937760" cy="1417320"/>
          </a:xfrm>
          <a:prstGeom prst="rect">
            <a:avLst/>
          </a:prstGeom>
          <a:noFill/>
        </p:spPr>
        <p:txBody>
          <a:bodyPr wrap="square" lIns="18288" rIns="36576" tIns="27432" bIns="18288">
            <a:spAutoFit/>
          </a:bodyPr>
          <a:lstStyle/>
          <a:p>
            <a:pPr>
              <a:spcAft>
                <a:spcPts val="800"/>
              </a:spcAft>
              <a:defRPr sz="1300">
                <a:solidFill>
                  <a:srgbClr val="222D34"/>
                </a:solidFill>
                <a:latin typeface="Aptos"/>
              </a:defRPr>
            </a:pPr>
            <a:r>
              <a:t>16,610 invoice dikeluarkan, termasuk 8,445 NPI.</a:t>
            </a:r>
          </a:p>
          <a:p>
            <a:pPr>
              <a:spcAft>
                <a:spcPts val="800"/>
              </a:spcAft>
              <a:defRPr sz="1300">
                <a:solidFill>
                  <a:srgbClr val="222D34"/>
                </a:solidFill>
                <a:latin typeface="Aptos"/>
              </a:defRPr>
            </a:pPr>
            <a:r>
              <a:t>Rasio turun 0.29 poin persentase karena perubahan populasi.</a:t>
            </a:r>
          </a:p>
          <a:p>
            <a:pPr>
              <a:spcAft>
                <a:spcPts val="800"/>
              </a:spcAft>
              <a:defRPr sz="1300">
                <a:solidFill>
                  <a:srgbClr val="222D34"/>
                </a:solidFill>
                <a:latin typeface="Aptos"/>
              </a:defRPr>
            </a:pPr>
            <a:r>
              <a:t>Nominal belum dibayar pada B1: Rp230.33 miliar.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309360" y="3794760"/>
            <a:ext cx="4663440" cy="32004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>
              <a:defRPr sz="1100" b="1">
                <a:solidFill>
                  <a:srgbClr val="007D61"/>
                </a:solidFill>
                <a:latin typeface="Aptos"/>
              </a:defRPr>
            </a:pPr>
            <a:r>
              <a:t>INTERPRETASI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355080" y="4160520"/>
            <a:ext cx="4800600" cy="1417320"/>
          </a:xfrm>
          <a:prstGeom prst="rect">
            <a:avLst/>
          </a:prstGeom>
          <a:noFill/>
        </p:spPr>
        <p:txBody>
          <a:bodyPr wrap="square" lIns="18288" rIns="36576" tIns="27432" bIns="18288">
            <a:spAutoFit/>
          </a:bodyPr>
          <a:lstStyle/>
          <a:p>
            <a:pPr>
              <a:spcAft>
                <a:spcPts val="800"/>
              </a:spcAft>
              <a:defRPr sz="1300">
                <a:solidFill>
                  <a:srgbClr val="222D34"/>
                </a:solidFill>
                <a:latin typeface="Aptos"/>
              </a:defRPr>
            </a:pPr>
            <a:r>
              <a:t>Baseline harus dibekukan untuk mengukur hasil program.</a:t>
            </a:r>
          </a:p>
          <a:p>
            <a:pPr>
              <a:spcAft>
                <a:spcPts val="800"/>
              </a:spcAft>
              <a:defRPr sz="1300">
                <a:solidFill>
                  <a:srgbClr val="222D34"/>
                </a:solidFill>
                <a:latin typeface="Aptos"/>
              </a:defRPr>
            </a:pPr>
            <a:r>
              <a:t>Pembatalan, koreksi, pembayaran parsial, dan pelunasan penuh dilaporkan terpisah.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11155680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>
              <a:defRPr sz="900" b="1">
                <a:solidFill>
                  <a:srgbClr val="007D61"/>
                </a:solidFill>
                <a:latin typeface="Aptos"/>
              </a:defRPr>
            </a:pPr>
            <a:r>
              <a:t>04 | EDA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66928"/>
            <a:ext cx="11064240" cy="5029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>
              <a:defRPr sz="2600" b="1">
                <a:solidFill>
                  <a:srgbClr val="132B42"/>
                </a:solidFill>
                <a:latin typeface="Aptos"/>
              </a:defRPr>
            </a:pPr>
            <a:r>
              <a:t>Tunggakan didominasi invoice berumur panjang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1115568"/>
            <a:ext cx="10972800" cy="36576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>
              <a:defRPr sz="1100" b="0">
                <a:solidFill>
                  <a:srgbClr val="5C6C76"/>
                </a:solidFill>
                <a:latin typeface="Aptos"/>
              </a:defRPr>
            </a:pPr>
            <a:r>
              <a:t>Prioritas collection perlu dipadukan dengan validitas tagihan dan kesiapan kontak.</a:t>
            </a:r>
          </a:p>
        </p:txBody>
      </p:sp>
      <p:sp>
        <p:nvSpPr>
          <p:cNvPr id="5" name="Rectangle 4"/>
          <p:cNvSpPr/>
          <p:nvPr/>
        </p:nvSpPr>
        <p:spPr>
          <a:xfrm>
            <a:off x="530352" y="1572768"/>
            <a:ext cx="594360" cy="50292"/>
          </a:xfrm>
          <a:prstGeom prst="rect">
            <a:avLst/>
          </a:prstGeom>
          <a:solidFill>
            <a:srgbClr val="007D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30352" y="6537960"/>
            <a:ext cx="9875520" cy="16459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>
              <a:defRPr sz="800" b="0">
                <a:solidFill>
                  <a:srgbClr val="5C6C76"/>
                </a:solidFill>
                <a:latin typeface="Aptos"/>
              </a:defRPr>
            </a:pPr>
            <a:r>
              <a:t>SINARMAS LAND | IPL PORTFOLIO REVIEW | BASELINE 31 JAN 2025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510528"/>
            <a:ext cx="457200" cy="182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>
              <a:defRPr sz="900" b="1">
                <a:solidFill>
                  <a:srgbClr val="5C6C76"/>
                </a:solidFill>
                <a:latin typeface="Aptos"/>
              </a:defRPr>
            </a:pPr>
            <a:r>
              <a:t>07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77240" y="1874519"/>
            <a:ext cx="3063240" cy="1371600"/>
          </a:xfrm>
          <a:prstGeom prst="roundRect">
            <a:avLst/>
          </a:prstGeom>
          <a:solidFill>
            <a:srgbClr val="F0F5F3"/>
          </a:solidFill>
          <a:ln>
            <a:solidFill>
              <a:srgbClr val="F0F5F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77240" y="1874519"/>
            <a:ext cx="64008" cy="1371600"/>
          </a:xfrm>
          <a:prstGeom prst="rect">
            <a:avLst/>
          </a:prstGeom>
          <a:solidFill>
            <a:srgbClr val="B545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78408" y="2020824"/>
            <a:ext cx="2715768" cy="29260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>
              <a:defRPr sz="900" b="1">
                <a:solidFill>
                  <a:srgbClr val="5C6C76"/>
                </a:solidFill>
                <a:latin typeface="Aptos"/>
              </a:defRPr>
            </a:pPr>
            <a:r>
              <a:t>NILAI NPI &gt;90 HARI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78408" y="2359152"/>
            <a:ext cx="2715768" cy="5029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>
              <a:defRPr sz="2400" b="1">
                <a:solidFill>
                  <a:srgbClr val="132B42"/>
                </a:solidFill>
                <a:latin typeface="Aptos"/>
              </a:defRPr>
            </a:pPr>
            <a:r>
              <a:t>89.15%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78408" y="2807208"/>
            <a:ext cx="2697480" cy="32004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>
              <a:defRPr sz="900" b="0">
                <a:solidFill>
                  <a:srgbClr val="5C6C76"/>
                </a:solidFill>
                <a:latin typeface="Aptos"/>
              </a:defRPr>
            </a:pPr>
            <a:r>
              <a:t>Proporsi nilai belum dibayar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160520" y="1874519"/>
            <a:ext cx="3063240" cy="1371600"/>
          </a:xfrm>
          <a:prstGeom prst="roundRect">
            <a:avLst/>
          </a:prstGeom>
          <a:solidFill>
            <a:srgbClr val="F0F5F3"/>
          </a:solidFill>
          <a:ln>
            <a:solidFill>
              <a:srgbClr val="F0F5F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160520" y="1874519"/>
            <a:ext cx="64008" cy="1371600"/>
          </a:xfrm>
          <a:prstGeom prst="rect">
            <a:avLst/>
          </a:prstGeom>
          <a:solidFill>
            <a:srgbClr val="007D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361688" y="2020824"/>
            <a:ext cx="2715768" cy="29260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>
              <a:defRPr sz="900" b="1">
                <a:solidFill>
                  <a:srgbClr val="5C6C76"/>
                </a:solidFill>
                <a:latin typeface="Aptos"/>
              </a:defRPr>
            </a:pPr>
            <a:r>
              <a:t>POOL COLLECTION AWAL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361688" y="2359152"/>
            <a:ext cx="2715768" cy="5029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>
              <a:defRPr sz="2400" b="1">
                <a:solidFill>
                  <a:srgbClr val="132B42"/>
                </a:solidFill>
                <a:latin typeface="Aptos"/>
              </a:defRPr>
            </a:pPr>
            <a:r>
              <a:t>160,692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361688" y="2807208"/>
            <a:ext cx="2697480" cy="32004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>
              <a:defRPr sz="900" b="0">
                <a:solidFill>
                  <a:srgbClr val="5C6C76"/>
                </a:solidFill>
                <a:latin typeface="Aptos"/>
              </a:defRPr>
            </a:pPr>
            <a:r>
              <a:t>Invoice lolos penyaringan awal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543800" y="1874519"/>
            <a:ext cx="3063240" cy="1371600"/>
          </a:xfrm>
          <a:prstGeom prst="roundRect">
            <a:avLst/>
          </a:prstGeom>
          <a:solidFill>
            <a:srgbClr val="F0F5F3"/>
          </a:solidFill>
          <a:ln>
            <a:solidFill>
              <a:srgbClr val="F0F5F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7543800" y="1874519"/>
            <a:ext cx="64008" cy="1371600"/>
          </a:xfrm>
          <a:prstGeom prst="rect">
            <a:avLst/>
          </a:prstGeom>
          <a:solidFill>
            <a:srgbClr val="DC8B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744968" y="2020824"/>
            <a:ext cx="2715768" cy="29260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>
              <a:defRPr sz="900" b="1">
                <a:solidFill>
                  <a:srgbClr val="5C6C76"/>
                </a:solidFill>
                <a:latin typeface="Aptos"/>
              </a:defRPr>
            </a:pPr>
            <a:r>
              <a:t>TINDAKAN TERCATAT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744968" y="2359152"/>
            <a:ext cx="2715768" cy="5029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>
              <a:defRPr sz="2400" b="1">
                <a:solidFill>
                  <a:srgbClr val="132B42"/>
                </a:solidFill>
                <a:latin typeface="Aptos"/>
              </a:defRPr>
            </a:pPr>
            <a:r>
              <a:t>28.16%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744968" y="2807208"/>
            <a:ext cx="2697480" cy="32004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>
              <a:defRPr sz="900" b="0">
                <a:solidFill>
                  <a:srgbClr val="5C6C76"/>
                </a:solidFill>
                <a:latin typeface="Aptos"/>
              </a:defRPr>
            </a:pPr>
            <a:r>
              <a:t>81,666 dari 289,981 NPI B1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68680" y="3886200"/>
            <a:ext cx="10241280" cy="36576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>
              <a:defRPr sz="1400" b="1">
                <a:solidFill>
                  <a:srgbClr val="132B42"/>
                </a:solidFill>
                <a:latin typeface="Aptos"/>
              </a:defRPr>
            </a:pPr>
            <a:r>
              <a:t>Implikasi operasional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14400" y="4297680"/>
            <a:ext cx="10149840" cy="1280160"/>
          </a:xfrm>
          <a:prstGeom prst="rect">
            <a:avLst/>
          </a:prstGeom>
          <a:noFill/>
        </p:spPr>
        <p:txBody>
          <a:bodyPr wrap="square" lIns="18288" rIns="36576" tIns="27432" bIns="18288">
            <a:spAutoFit/>
          </a:bodyPr>
          <a:lstStyle/>
          <a:p>
            <a:pPr>
              <a:spcAft>
                <a:spcPts val="800"/>
              </a:spcAft>
              <a:defRPr sz="1300">
                <a:solidFill>
                  <a:srgbClr val="222D34"/>
                </a:solidFill>
                <a:latin typeface="Aptos"/>
              </a:defRPr>
            </a:pPr>
            <a:r>
              <a:t>Kasus di luar pool perlu jalur sengketa, rekonsiliasi, atau perbaikan kontak sebelum eskalasi.</a:t>
            </a:r>
          </a:p>
          <a:p>
            <a:pPr>
              <a:spcAft>
                <a:spcPts val="800"/>
              </a:spcAft>
              <a:defRPr sz="1300">
                <a:solidFill>
                  <a:srgbClr val="222D34"/>
                </a:solidFill>
                <a:latin typeface="Aptos"/>
              </a:defRPr>
            </a:pPr>
            <a:r>
              <a:t>Riwayat tindakan tidak identik dengan bukti pembayaran; klaim lunas perlu dicocokkan dengan ledger.</a:t>
            </a:r>
          </a:p>
          <a:p>
            <a:pPr>
              <a:spcAft>
                <a:spcPts val="800"/>
              </a:spcAft>
              <a:defRPr sz="1300">
                <a:solidFill>
                  <a:srgbClr val="222D34"/>
                </a:solidFill>
                <a:latin typeface="Aptos"/>
              </a:defRPr>
            </a:pPr>
            <a:r>
              <a:t>Satu unit dapat memiliki banyak invoice—siapkan ringkasan kewajiban per unit sebelum menghubungi pemilik.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11155680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>
              <a:defRPr sz="900" b="1">
                <a:solidFill>
                  <a:srgbClr val="007D61"/>
                </a:solidFill>
                <a:latin typeface="Aptos"/>
              </a:defRPr>
            </a:pPr>
            <a:r>
              <a:t>04 | EDA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66928"/>
            <a:ext cx="11064240" cy="5029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>
              <a:defRPr sz="2600" b="1">
                <a:solidFill>
                  <a:srgbClr val="132B42"/>
                </a:solidFill>
                <a:latin typeface="Aptos"/>
              </a:defRPr>
            </a:pPr>
            <a:r>
              <a:t>Karakteristik unit menunjukkan sinyal prioritas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1115568"/>
            <a:ext cx="10972800" cy="36576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>
              <a:defRPr sz="1100" b="0">
                <a:solidFill>
                  <a:srgbClr val="5C6C76"/>
                </a:solidFill>
                <a:latin typeface="Aptos"/>
              </a:defRPr>
            </a:pPr>
            <a:r>
              <a:t>Perbandingan bersifat deskriptif; tidak membuktikan sebab-akibat.</a:t>
            </a:r>
          </a:p>
        </p:txBody>
      </p:sp>
      <p:sp>
        <p:nvSpPr>
          <p:cNvPr id="5" name="Rectangle 4"/>
          <p:cNvSpPr/>
          <p:nvPr/>
        </p:nvSpPr>
        <p:spPr>
          <a:xfrm>
            <a:off x="530352" y="1572768"/>
            <a:ext cx="594360" cy="50292"/>
          </a:xfrm>
          <a:prstGeom prst="rect">
            <a:avLst/>
          </a:prstGeom>
          <a:solidFill>
            <a:srgbClr val="007D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30352" y="6537960"/>
            <a:ext cx="9875520" cy="16459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>
              <a:defRPr sz="800" b="0">
                <a:solidFill>
                  <a:srgbClr val="5C6C76"/>
                </a:solidFill>
                <a:latin typeface="Aptos"/>
              </a:defRPr>
            </a:pPr>
            <a:r>
              <a:t>SINARMAS LAND | IPL PORTFOLIO REVIEW | BASELINE 31 JAN 2025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510528"/>
            <a:ext cx="457200" cy="182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>
              <a:defRPr sz="900" b="1">
                <a:solidFill>
                  <a:srgbClr val="5C6C76"/>
                </a:solidFill>
                <a:latin typeface="Aptos"/>
              </a:defRPr>
            </a:pPr>
            <a:r>
              <a:t>08</a:t>
            </a:r>
          </a:p>
        </p:txBody>
      </p:sp>
      <p:graphicFrame>
        <p:nvGraphicFramePr>
          <p:cNvPr id="8" name="Chart 7"/>
          <p:cNvGraphicFramePr>
            <a:graphicFrameLocks noGrp="1"/>
          </p:cNvGraphicFramePr>
          <p:nvPr/>
        </p:nvGraphicFramePr>
        <p:xfrm>
          <a:off x="777240" y="1920240"/>
          <a:ext cx="5212080" cy="301752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914400" y="5074920"/>
            <a:ext cx="4937760" cy="54864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>
              <a:defRPr sz="1100" b="0">
                <a:solidFill>
                  <a:srgbClr val="5C6C76"/>
                </a:solidFill>
                <a:latin typeface="Aptos"/>
              </a:defRPr>
            </a:pPr>
            <a:r>
              <a:t>Unit kosong: NPI rate 59.23%, tetapi menyumbang 39.02% dari seluruh NPI.</a:t>
            </a:r>
          </a:p>
        </p:txBody>
      </p:sp>
      <p:graphicFrame>
        <p:nvGraphicFramePr>
          <p:cNvPr id="10" name="Chart 9"/>
          <p:cNvGraphicFramePr>
            <a:graphicFrameLocks noGrp="1"/>
          </p:cNvGraphicFramePr>
          <p:nvPr/>
        </p:nvGraphicFramePr>
        <p:xfrm>
          <a:off x="6263640" y="1920240"/>
          <a:ext cx="5029200" cy="3017520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11" name="TextBox 10"/>
          <p:cNvSpPr txBox="1"/>
          <p:nvPr/>
        </p:nvSpPr>
        <p:spPr>
          <a:xfrm>
            <a:off x="6400800" y="5074920"/>
            <a:ext cx="4846320" cy="54864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>
              <a:defRPr sz="1100" b="0">
                <a:solidFill>
                  <a:srgbClr val="5C6C76"/>
                </a:solidFill>
                <a:latin typeface="Aptos"/>
              </a:defRPr>
            </a:pPr>
            <a:r>
              <a:t>Kontak kosong terkait 61,522 invoice NPI dan nominal tercatat Rp49.82 miliar.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68680" y="5806440"/>
            <a:ext cx="10515600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>
              <a:defRPr sz="1000" b="1">
                <a:solidFill>
                  <a:srgbClr val="B54541"/>
                </a:solidFill>
                <a:latin typeface="Aptos"/>
              </a:defRPr>
            </a:pPr>
            <a:r>
              <a:t>Autodebit terdaftar: NPI 10.44% vs 40.99% pada yang tidak terdaftar; bukan estimasi dampak kausal.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11155680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>
              <a:defRPr sz="900" b="1">
                <a:solidFill>
                  <a:srgbClr val="007D61"/>
                </a:solidFill>
                <a:latin typeface="Aptos"/>
              </a:defRPr>
            </a:pPr>
            <a:r>
              <a:t>05 | DIAGNOSTIC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66928"/>
            <a:ext cx="11064240" cy="5029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>
              <a:defRPr sz="2600" b="1">
                <a:solidFill>
                  <a:srgbClr val="132B42"/>
                </a:solidFill>
                <a:latin typeface="Aptos"/>
              </a:defRPr>
            </a:pPr>
            <a:r>
              <a:t>Sengketa dan anomali air memerlukan jalur pemeriksaan tersendiri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1115568"/>
            <a:ext cx="10972800" cy="36576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>
              <a:defRPr sz="1100" b="0">
                <a:solidFill>
                  <a:srgbClr val="5C6C76"/>
                </a:solidFill>
                <a:latin typeface="Aptos"/>
              </a:defRPr>
            </a:pPr>
            <a:r>
              <a:t>Masalah validitas tagihan dapat memperbesar piutang tercatat, tetapi tidak seluruhnya menjelaskan NPI.</a:t>
            </a:r>
          </a:p>
        </p:txBody>
      </p:sp>
      <p:sp>
        <p:nvSpPr>
          <p:cNvPr id="5" name="Rectangle 4"/>
          <p:cNvSpPr/>
          <p:nvPr/>
        </p:nvSpPr>
        <p:spPr>
          <a:xfrm>
            <a:off x="530352" y="1572768"/>
            <a:ext cx="594360" cy="50292"/>
          </a:xfrm>
          <a:prstGeom prst="rect">
            <a:avLst/>
          </a:prstGeom>
          <a:solidFill>
            <a:srgbClr val="007D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30352" y="6537960"/>
            <a:ext cx="9875520" cy="16459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>
              <a:defRPr sz="800" b="0">
                <a:solidFill>
                  <a:srgbClr val="5C6C76"/>
                </a:solidFill>
                <a:latin typeface="Aptos"/>
              </a:defRPr>
            </a:pPr>
            <a:r>
              <a:t>SINARMAS LAND | IPL PORTFOLIO REVIEW | BASELINE 31 JAN 2025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510528"/>
            <a:ext cx="457200" cy="182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>
              <a:defRPr sz="900" b="1">
                <a:solidFill>
                  <a:srgbClr val="5C6C76"/>
                </a:solidFill>
                <a:latin typeface="Aptos"/>
              </a:defRPr>
            </a:pPr>
            <a:r>
              <a:t>09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1874519"/>
            <a:ext cx="3337560" cy="1417320"/>
          </a:xfrm>
          <a:prstGeom prst="roundRect">
            <a:avLst/>
          </a:prstGeom>
          <a:solidFill>
            <a:srgbClr val="F0F5F3"/>
          </a:solidFill>
          <a:ln>
            <a:solidFill>
              <a:srgbClr val="F0F5F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31520" y="1874519"/>
            <a:ext cx="64008" cy="1417320"/>
          </a:xfrm>
          <a:prstGeom prst="rect">
            <a:avLst/>
          </a:prstGeom>
          <a:solidFill>
            <a:srgbClr val="DC8B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32688" y="2020824"/>
            <a:ext cx="2990088" cy="29260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>
              <a:defRPr sz="900" b="1">
                <a:solidFill>
                  <a:srgbClr val="5C6C76"/>
                </a:solidFill>
                <a:latin typeface="Aptos"/>
              </a:defRPr>
            </a:pPr>
            <a:r>
              <a:t>SENGKETA DUPLIKAT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32688" y="2359152"/>
            <a:ext cx="2990088" cy="5029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>
              <a:defRPr sz="2400" b="1">
                <a:solidFill>
                  <a:srgbClr val="132B42"/>
                </a:solidFill>
                <a:latin typeface="Aptos"/>
              </a:defRPr>
            </a:pPr>
            <a:r>
              <a:t>16,767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32688" y="2852927"/>
            <a:ext cx="2971800" cy="32004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>
              <a:defRPr sz="900" b="0">
                <a:solidFill>
                  <a:srgbClr val="5C6C76"/>
                </a:solidFill>
                <a:latin typeface="Aptos"/>
              </a:defRPr>
            </a:pPr>
            <a:r>
              <a:t>Alasan sengketa terbanyak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434840" y="1874519"/>
            <a:ext cx="3337560" cy="1417320"/>
          </a:xfrm>
          <a:prstGeom prst="roundRect">
            <a:avLst/>
          </a:prstGeom>
          <a:solidFill>
            <a:srgbClr val="F0F5F3"/>
          </a:solidFill>
          <a:ln>
            <a:solidFill>
              <a:srgbClr val="F0F5F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434840" y="1874519"/>
            <a:ext cx="64008" cy="1417320"/>
          </a:xfrm>
          <a:prstGeom prst="rect">
            <a:avLst/>
          </a:prstGeom>
          <a:solidFill>
            <a:srgbClr val="007D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636007" y="2020824"/>
            <a:ext cx="2990088" cy="29260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>
              <a:defRPr sz="900" b="1">
                <a:solidFill>
                  <a:srgbClr val="5C6C76"/>
                </a:solidFill>
                <a:latin typeface="Aptos"/>
              </a:defRPr>
            </a:pPr>
            <a:r>
              <a:t>PEMBATALAN PENUH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636007" y="2359152"/>
            <a:ext cx="2990088" cy="5029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>
              <a:defRPr sz="2400" b="1">
                <a:solidFill>
                  <a:srgbClr val="132B42"/>
                </a:solidFill>
                <a:latin typeface="Aptos"/>
              </a:defRPr>
            </a:pPr>
            <a:r>
              <a:t>81.94%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636007" y="2852927"/>
            <a:ext cx="2971800" cy="32004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>
              <a:defRPr sz="900" b="0">
                <a:solidFill>
                  <a:srgbClr val="5C6C76"/>
                </a:solidFill>
                <a:latin typeface="Aptos"/>
              </a:defRPr>
            </a:pPr>
            <a:r>
              <a:t>Pada sengketa duplikat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138160" y="1874519"/>
            <a:ext cx="3337560" cy="1417320"/>
          </a:xfrm>
          <a:prstGeom prst="roundRect">
            <a:avLst/>
          </a:prstGeom>
          <a:solidFill>
            <a:srgbClr val="F0F5F3"/>
          </a:solidFill>
          <a:ln>
            <a:solidFill>
              <a:srgbClr val="F0F5F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8138160" y="1874519"/>
            <a:ext cx="64008" cy="1417320"/>
          </a:xfrm>
          <a:prstGeom prst="rect">
            <a:avLst/>
          </a:prstGeom>
          <a:solidFill>
            <a:srgbClr val="B545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339328" y="2020824"/>
            <a:ext cx="2990088" cy="29260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>
              <a:defRPr sz="900" b="1">
                <a:solidFill>
                  <a:srgbClr val="5C6C76"/>
                </a:solidFill>
                <a:latin typeface="Aptos"/>
              </a:defRPr>
            </a:pPr>
            <a:r>
              <a:t>SENGKETA AIR TIDAK WAJAR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339328" y="2359152"/>
            <a:ext cx="2990088" cy="5029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>
              <a:defRPr sz="2400" b="1">
                <a:solidFill>
                  <a:srgbClr val="132B42"/>
                </a:solidFill>
                <a:latin typeface="Aptos"/>
              </a:defRPr>
            </a:pPr>
            <a:r>
              <a:t>68.79%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339328" y="2852927"/>
            <a:ext cx="2971800" cy="32004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>
              <a:defRPr sz="900" b="0">
                <a:solidFill>
                  <a:srgbClr val="5C6C76"/>
                </a:solidFill>
                <a:latin typeface="Aptos"/>
              </a:defRPr>
            </a:pPr>
            <a:r>
              <a:t>Pembatalan penuh pada alasan ini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22960" y="3794760"/>
            <a:ext cx="5029200" cy="32004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>
              <a:defRPr sz="1100" b="1">
                <a:solidFill>
                  <a:srgbClr val="007D61"/>
                </a:solidFill>
                <a:latin typeface="Aptos"/>
              </a:defRPr>
            </a:pPr>
            <a:r>
              <a:t>ANOMALI AIR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68680" y="4160520"/>
            <a:ext cx="4937760" cy="1417320"/>
          </a:xfrm>
          <a:prstGeom prst="rect">
            <a:avLst/>
          </a:prstGeom>
          <a:noFill/>
        </p:spPr>
        <p:txBody>
          <a:bodyPr wrap="square" lIns="18288" rIns="36576" tIns="27432" bIns="18288">
            <a:spAutoFit/>
          </a:bodyPr>
          <a:lstStyle/>
          <a:p>
            <a:pPr>
              <a:spcAft>
                <a:spcPts val="800"/>
              </a:spcAft>
              <a:defRPr sz="1200">
                <a:solidFill>
                  <a:srgbClr val="222D34"/>
                </a:solidFill>
                <a:latin typeface="Aptos"/>
              </a:defRPr>
            </a:pPr>
            <a:r>
              <a:t>Sengketa sekitar 28.48% pada air negatif dan 26.95% pada air tinggi, vs 2.73% yang tidak ditandai.</a:t>
            </a:r>
          </a:p>
          <a:p>
            <a:pPr>
              <a:spcAft>
                <a:spcPts val="800"/>
              </a:spcAft>
              <a:defRPr sz="1200">
                <a:solidFill>
                  <a:srgbClr val="222D34"/>
                </a:solidFill>
                <a:latin typeface="Aptos"/>
              </a:defRPr>
            </a:pPr>
            <a:r>
              <a:t>7,613 invoice bertanda air negatif/tinggi menggunakan input Manual.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217920" y="3794760"/>
            <a:ext cx="4937760" cy="32004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>
              <a:defRPr sz="1100" b="1">
                <a:solidFill>
                  <a:srgbClr val="007D61"/>
                </a:solidFill>
                <a:latin typeface="Aptos"/>
              </a:defRPr>
            </a:pPr>
            <a:r>
              <a:t>BACKLOG SENGKETA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263640" y="4160520"/>
            <a:ext cx="4937760" cy="1417320"/>
          </a:xfrm>
          <a:prstGeom prst="rect">
            <a:avLst/>
          </a:prstGeom>
          <a:noFill/>
        </p:spPr>
        <p:txBody>
          <a:bodyPr wrap="square" lIns="18288" rIns="36576" tIns="27432" bIns="18288">
            <a:spAutoFit/>
          </a:bodyPr>
          <a:lstStyle/>
          <a:p>
            <a:pPr>
              <a:spcAft>
                <a:spcPts val="800"/>
              </a:spcAft>
              <a:defRPr sz="1200">
                <a:solidFill>
                  <a:srgbClr val="222D34"/>
                </a:solidFill>
                <a:latin typeface="Aptos"/>
              </a:defRPr>
            </a:pPr>
            <a:r>
              <a:t>Median penyelesaian kasus selesai: 4 hari.</a:t>
            </a:r>
          </a:p>
          <a:p>
            <a:pPr>
              <a:spcAft>
                <a:spcPts val="800"/>
              </a:spcAft>
              <a:defRPr sz="1200">
                <a:solidFill>
                  <a:srgbClr val="222D34"/>
                </a:solidFill>
                <a:latin typeface="Aptos"/>
              </a:defRPr>
            </a:pPr>
            <a:r>
              <a:t>Median umur backlog terbuka: 421–544 hari.</a:t>
            </a:r>
          </a:p>
          <a:p>
            <a:pPr>
              <a:spcAft>
                <a:spcPts val="800"/>
              </a:spcAft>
              <a:defRPr sz="1200">
                <a:solidFill>
                  <a:srgbClr val="222D34"/>
                </a:solidFill>
                <a:latin typeface="Aptos"/>
              </a:defRPr>
            </a:pPr>
            <a:r>
              <a:t>Backlog perlu ditriase; status “Diproses” mungkin belum diperbarui.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11155680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>
              <a:defRPr sz="900" b="1">
                <a:solidFill>
                  <a:srgbClr val="007D61"/>
                </a:solidFill>
                <a:latin typeface="Aptos"/>
              </a:defRPr>
            </a:pPr>
            <a:r>
              <a:t>05 | DIAGNOSTIC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66928"/>
            <a:ext cx="11064240" cy="5029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>
              <a:defRPr sz="2600" b="1">
                <a:solidFill>
                  <a:srgbClr val="132B42"/>
                </a:solidFill>
                <a:latin typeface="Aptos"/>
              </a:defRPr>
            </a:pPr>
            <a:r>
              <a:t>Kualitas pencatatan membatasi evaluasi efektivitas collection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1115568"/>
            <a:ext cx="10972800" cy="36576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>
              <a:defRPr sz="1100" b="0">
                <a:solidFill>
                  <a:srgbClr val="5C6C76"/>
                </a:solidFill>
                <a:latin typeface="Aptos"/>
              </a:defRPr>
            </a:pPr>
            <a:r>
              <a:t>Data saat ini cukup untuk mengukur cakupan dan respons, belum untuk menyimpulkan efektivitas kausal kanal.</a:t>
            </a:r>
          </a:p>
        </p:txBody>
      </p:sp>
      <p:sp>
        <p:nvSpPr>
          <p:cNvPr id="5" name="Rectangle 4"/>
          <p:cNvSpPr/>
          <p:nvPr/>
        </p:nvSpPr>
        <p:spPr>
          <a:xfrm>
            <a:off x="530352" y="1572768"/>
            <a:ext cx="594360" cy="50292"/>
          </a:xfrm>
          <a:prstGeom prst="rect">
            <a:avLst/>
          </a:prstGeom>
          <a:solidFill>
            <a:srgbClr val="007D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30352" y="6537960"/>
            <a:ext cx="9875520" cy="16459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>
              <a:defRPr sz="800" b="0">
                <a:solidFill>
                  <a:srgbClr val="5C6C76"/>
                </a:solidFill>
                <a:latin typeface="Aptos"/>
              </a:defRPr>
            </a:pPr>
            <a:r>
              <a:t>SINARMAS LAND | IPL PORTFOLIO REVIEW | BASELINE 31 JAN 2025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510528"/>
            <a:ext cx="457200" cy="182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>
              <a:defRPr sz="900" b="1">
                <a:solidFill>
                  <a:srgbClr val="5C6C76"/>
                </a:solidFill>
                <a:latin typeface="Aptos"/>
              </a:defRPr>
            </a:pPr>
            <a:r>
              <a:t>10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77240" y="1874519"/>
            <a:ext cx="3246120" cy="1417320"/>
          </a:xfrm>
          <a:prstGeom prst="roundRect">
            <a:avLst/>
          </a:prstGeom>
          <a:solidFill>
            <a:srgbClr val="F0F5F3"/>
          </a:solidFill>
          <a:ln>
            <a:solidFill>
              <a:srgbClr val="F0F5F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77240" y="1874519"/>
            <a:ext cx="64008" cy="1417320"/>
          </a:xfrm>
          <a:prstGeom prst="rect">
            <a:avLst/>
          </a:prstGeom>
          <a:solidFill>
            <a:srgbClr val="DC8B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78408" y="2020824"/>
            <a:ext cx="2898648" cy="29260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>
              <a:defRPr sz="900" b="1">
                <a:solidFill>
                  <a:srgbClr val="5C6C76"/>
                </a:solidFill>
                <a:latin typeface="Aptos"/>
              </a:defRPr>
            </a:pPr>
            <a:r>
              <a:t>RESPONS TIDAK MERESPONS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78408" y="2359152"/>
            <a:ext cx="2898648" cy="5029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>
              <a:defRPr sz="2400" b="1">
                <a:solidFill>
                  <a:srgbClr val="132B42"/>
                </a:solidFill>
                <a:latin typeface="Aptos"/>
              </a:defRPr>
            </a:pPr>
            <a:r>
              <a:t>60.51%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78408" y="2852927"/>
            <a:ext cx="2880360" cy="32004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>
              <a:defRPr sz="900" b="0">
                <a:solidFill>
                  <a:srgbClr val="5C6C76"/>
                </a:solidFill>
                <a:latin typeface="Aptos"/>
              </a:defRPr>
            </a:pPr>
            <a:r>
              <a:t>Dari baris tindakan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480560" y="1874519"/>
            <a:ext cx="3246120" cy="1417320"/>
          </a:xfrm>
          <a:prstGeom prst="roundRect">
            <a:avLst/>
          </a:prstGeom>
          <a:solidFill>
            <a:srgbClr val="F0F5F3"/>
          </a:solidFill>
          <a:ln>
            <a:solidFill>
              <a:srgbClr val="F0F5F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480560" y="1874519"/>
            <a:ext cx="64008" cy="1417320"/>
          </a:xfrm>
          <a:prstGeom prst="rect">
            <a:avLst/>
          </a:prstGeom>
          <a:solidFill>
            <a:srgbClr val="B545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681728" y="2020824"/>
            <a:ext cx="2898648" cy="29260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>
              <a:defRPr sz="900" b="1">
                <a:solidFill>
                  <a:srgbClr val="5C6C76"/>
                </a:solidFill>
                <a:latin typeface="Aptos"/>
              </a:defRPr>
            </a:pPr>
            <a:r>
              <a:t>RESPONS “LUNAS” TAPI STATUS OVERDUE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681728" y="2359152"/>
            <a:ext cx="2898648" cy="5029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>
              <a:defRPr sz="2400" b="1">
                <a:solidFill>
                  <a:srgbClr val="132B42"/>
                </a:solidFill>
                <a:latin typeface="Aptos"/>
              </a:defRPr>
            </a:pPr>
            <a:r>
              <a:t>5,580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681728" y="2852927"/>
            <a:ext cx="2880360" cy="32004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>
              <a:defRPr sz="900" b="0">
                <a:solidFill>
                  <a:srgbClr val="5C6C76"/>
                </a:solidFill>
                <a:latin typeface="Aptos"/>
              </a:defRPr>
            </a:pPr>
            <a:r>
              <a:t>Invoice perlu rekonsiliasi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183879" y="1874519"/>
            <a:ext cx="3246120" cy="1417320"/>
          </a:xfrm>
          <a:prstGeom prst="roundRect">
            <a:avLst/>
          </a:prstGeom>
          <a:solidFill>
            <a:srgbClr val="F0F5F3"/>
          </a:solidFill>
          <a:ln>
            <a:solidFill>
              <a:srgbClr val="F0F5F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8183879" y="1874519"/>
            <a:ext cx="64008" cy="1417320"/>
          </a:xfrm>
          <a:prstGeom prst="rect">
            <a:avLst/>
          </a:prstGeom>
          <a:solidFill>
            <a:srgbClr val="007D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385048" y="2020824"/>
            <a:ext cx="2898648" cy="29260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>
              <a:defRPr sz="900" b="1">
                <a:solidFill>
                  <a:srgbClr val="5C6C76"/>
                </a:solidFill>
                <a:latin typeface="Aptos"/>
              </a:defRPr>
            </a:pPr>
            <a:r>
              <a:t>TINDAKAN SEBELUM JATUH TEMPO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385048" y="2359152"/>
            <a:ext cx="2898648" cy="5029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>
              <a:defRPr sz="2400" b="1">
                <a:solidFill>
                  <a:srgbClr val="132B42"/>
                </a:solidFill>
                <a:latin typeface="Aptos"/>
              </a:defRPr>
            </a:pPr>
            <a:r>
              <a:t>98.74%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385048" y="2852927"/>
            <a:ext cx="2880360" cy="32004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>
              <a:defRPr sz="900" b="0">
                <a:solidFill>
                  <a:srgbClr val="5C6C76"/>
                </a:solidFill>
                <a:latin typeface="Aptos"/>
              </a:defRPr>
            </a:pPr>
            <a:r>
              <a:t>125,178 tindakan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68680" y="3886200"/>
            <a:ext cx="10424160" cy="32004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>
              <a:defRPr sz="1400" b="1">
                <a:solidFill>
                  <a:srgbClr val="132B42"/>
                </a:solidFill>
                <a:latin typeface="Aptos"/>
              </a:defRPr>
            </a:pPr>
            <a:r>
              <a:t>Apa artinya untuk manajemen?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14400" y="4297680"/>
            <a:ext cx="10058400" cy="1280160"/>
          </a:xfrm>
          <a:prstGeom prst="rect">
            <a:avLst/>
          </a:prstGeom>
          <a:noFill/>
        </p:spPr>
        <p:txBody>
          <a:bodyPr wrap="square" lIns="18288" rIns="36576" tIns="27432" bIns="18288">
            <a:spAutoFit/>
          </a:bodyPr>
          <a:lstStyle/>
          <a:p>
            <a:pPr>
              <a:spcAft>
                <a:spcPts val="800"/>
              </a:spcAft>
              <a:defRPr sz="1300">
                <a:solidFill>
                  <a:srgbClr val="222D34"/>
                </a:solidFill>
                <a:latin typeface="Aptos"/>
              </a:defRPr>
            </a:pPr>
            <a:r>
              <a:t>Jangan menyimpulkan collection gagal: pembayaran mungkin belum tersinkron atau label respons belum didukung transaksi.</a:t>
            </a:r>
          </a:p>
          <a:p>
            <a:pPr>
              <a:spcAft>
                <a:spcPts val="800"/>
              </a:spcAft>
              <a:defRPr sz="1300">
                <a:solidFill>
                  <a:srgbClr val="222D34"/>
                </a:solidFill>
                <a:latin typeface="Aptos"/>
              </a:defRPr>
            </a:pPr>
            <a:r>
              <a:t>Pisahkan reminder sebelum jatuh tempo dari collection setelah jatuh tempo.</a:t>
            </a:r>
          </a:p>
          <a:p>
            <a:pPr>
              <a:spcAft>
                <a:spcPts val="800"/>
              </a:spcAft>
              <a:defRPr sz="1300">
                <a:solidFill>
                  <a:srgbClr val="222D34"/>
                </a:solidFill>
                <a:latin typeface="Aptos"/>
              </a:defRPr>
            </a:pPr>
            <a:r>
              <a:t>Bangun audit trail yang menghubungkan tindakan, respons, bukti kas, dan status invoice.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11155680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>
              <a:defRPr sz="900" b="1">
                <a:solidFill>
                  <a:srgbClr val="007D61"/>
                </a:solidFill>
                <a:latin typeface="Aptos"/>
              </a:defRPr>
            </a:pPr>
            <a:r>
              <a:t>05 | DIAGNOSTIC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66928"/>
            <a:ext cx="11064240" cy="5029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>
              <a:defRPr sz="2600" b="1">
                <a:solidFill>
                  <a:srgbClr val="132B42"/>
                </a:solidFill>
                <a:latin typeface="Aptos"/>
              </a:defRPr>
            </a:pPr>
            <a:r>
              <a:t>Sinyal unit kosong dan kontak kosong tetap terlihat di dalam cluster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1115568"/>
            <a:ext cx="10972800" cy="36576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>
              <a:defRPr sz="1100" b="0">
                <a:solidFill>
                  <a:srgbClr val="5C6C76"/>
                </a:solidFill>
                <a:latin typeface="Aptos"/>
              </a:defRPr>
            </a:pPr>
            <a:r>
              <a:t>Pemeriksaan dalam 111 cluster membantu mengurangi risiko perbedaan komposisi cluster.</a:t>
            </a:r>
          </a:p>
        </p:txBody>
      </p:sp>
      <p:sp>
        <p:nvSpPr>
          <p:cNvPr id="5" name="Rectangle 4"/>
          <p:cNvSpPr/>
          <p:nvPr/>
        </p:nvSpPr>
        <p:spPr>
          <a:xfrm>
            <a:off x="530352" y="1572768"/>
            <a:ext cx="594360" cy="50292"/>
          </a:xfrm>
          <a:prstGeom prst="rect">
            <a:avLst/>
          </a:prstGeom>
          <a:solidFill>
            <a:srgbClr val="007D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30352" y="6537960"/>
            <a:ext cx="9875520" cy="16459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>
              <a:defRPr sz="800" b="0">
                <a:solidFill>
                  <a:srgbClr val="5C6C76"/>
                </a:solidFill>
                <a:latin typeface="Aptos"/>
              </a:defRPr>
            </a:pPr>
            <a:r>
              <a:t>SINARMAS LAND | IPL PORTFOLIO REVIEW | BASELINE 31 JAN 2025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510528"/>
            <a:ext cx="457200" cy="182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>
              <a:defRPr sz="900" b="1">
                <a:solidFill>
                  <a:srgbClr val="5C6C76"/>
                </a:solidFill>
                <a:latin typeface="Aptos"/>
              </a:defRPr>
            </a:pPr>
            <a:r>
              <a:t>11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68680" y="2057400"/>
            <a:ext cx="4846320" cy="1600200"/>
          </a:xfrm>
          <a:prstGeom prst="roundRect">
            <a:avLst/>
          </a:prstGeom>
          <a:solidFill>
            <a:srgbClr val="F0F5F3"/>
          </a:solidFill>
          <a:ln>
            <a:solidFill>
              <a:srgbClr val="F0F5F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868680" y="2057400"/>
            <a:ext cx="64008" cy="1600200"/>
          </a:xfrm>
          <a:prstGeom prst="rect">
            <a:avLst/>
          </a:prstGeom>
          <a:solidFill>
            <a:srgbClr val="007D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69848" y="2203704"/>
            <a:ext cx="4498848" cy="29260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>
              <a:defRPr sz="900" b="1">
                <a:solidFill>
                  <a:srgbClr val="5C6C76"/>
                </a:solidFill>
                <a:latin typeface="Aptos"/>
              </a:defRPr>
            </a:pPr>
            <a:r>
              <a:t>SELISIH UNIT KOSONG VS TIDAK KOSONG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69848" y="2542032"/>
            <a:ext cx="4498848" cy="5029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>
              <a:defRPr sz="2400" b="1">
                <a:solidFill>
                  <a:srgbClr val="132B42"/>
                </a:solidFill>
                <a:latin typeface="Aptos"/>
              </a:defRPr>
            </a:pPr>
            <a:r>
              <a:t>+29.45 pp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69848" y="3218688"/>
            <a:ext cx="4480559" cy="32004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>
              <a:defRPr sz="900" b="0">
                <a:solidFill>
                  <a:srgbClr val="5C6C76"/>
                </a:solidFill>
                <a:latin typeface="Aptos"/>
              </a:defRPr>
            </a:pPr>
            <a:r>
              <a:t>Bootstrap interval: 28.91–29.99 pp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00800" y="2057400"/>
            <a:ext cx="4846320" cy="1600200"/>
          </a:xfrm>
          <a:prstGeom prst="roundRect">
            <a:avLst/>
          </a:prstGeom>
          <a:solidFill>
            <a:srgbClr val="F0F5F3"/>
          </a:solidFill>
          <a:ln>
            <a:solidFill>
              <a:srgbClr val="F0F5F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400800" y="2057400"/>
            <a:ext cx="64008" cy="1600200"/>
          </a:xfrm>
          <a:prstGeom prst="rect">
            <a:avLst/>
          </a:prstGeom>
          <a:solidFill>
            <a:srgbClr val="DC8B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601968" y="2203704"/>
            <a:ext cx="4498848" cy="29260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>
              <a:defRPr sz="900" b="1">
                <a:solidFill>
                  <a:srgbClr val="5C6C76"/>
                </a:solidFill>
                <a:latin typeface="Aptos"/>
              </a:defRPr>
            </a:pPr>
            <a:r>
              <a:t>SELISIH KONTAK KOSONG VS KONTAK TERSEDIA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601968" y="2542032"/>
            <a:ext cx="4498848" cy="5029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>
              <a:defRPr sz="2400" b="1">
                <a:solidFill>
                  <a:srgbClr val="132B42"/>
                </a:solidFill>
                <a:latin typeface="Aptos"/>
              </a:defRPr>
            </a:pPr>
            <a:r>
              <a:t>+9.85 pp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601968" y="3218688"/>
            <a:ext cx="4480559" cy="32004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>
              <a:defRPr sz="900" b="0">
                <a:solidFill>
                  <a:srgbClr val="5C6C76"/>
                </a:solidFill>
                <a:latin typeface="Aptos"/>
              </a:defRPr>
            </a:pPr>
            <a:r>
              <a:t>Bootstrap interval: 9.15–10.59 pp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14400" y="4160520"/>
            <a:ext cx="10332720" cy="4572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>
              <a:defRPr sz="1400" b="1">
                <a:solidFill>
                  <a:srgbClr val="132B42"/>
                </a:solidFill>
                <a:latin typeface="Aptos"/>
              </a:defRPr>
            </a:pPr>
            <a:r>
              <a:t>Interpretasi: kelompok ini layak menjadi sasaran pilot, bukan bukti bahwa mengisi kontak atau mengubah status hunian otomatis menurunkan NPI.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14400" y="4983480"/>
            <a:ext cx="10241280" cy="6400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>
              <a:defRPr sz="1200" b="0">
                <a:solidFill>
                  <a:srgbClr val="5C6C76"/>
                </a:solidFill>
                <a:latin typeface="Aptos"/>
              </a:defRPr>
            </a:pPr>
            <a:r>
              <a:t>Keterbatasan: atribut unit tidak memiliki histori perubahan; faktor lain dan seleksi kelompok tetap mungkin berperan.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11155680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>
              <a:defRPr sz="900" b="1">
                <a:solidFill>
                  <a:srgbClr val="007D61"/>
                </a:solidFill>
                <a:latin typeface="Aptos"/>
              </a:defRPr>
            </a:pPr>
            <a:r>
              <a:t>06 | CONCLUSION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66928"/>
            <a:ext cx="11064240" cy="5029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>
              <a:defRPr sz="2600" b="1">
                <a:solidFill>
                  <a:srgbClr val="132B42"/>
                </a:solidFill>
                <a:latin typeface="Aptos"/>
              </a:defRPr>
            </a:pPr>
            <a:r>
              <a:t>Empat kesimpulan untuk pengambilan keputusan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1115568"/>
            <a:ext cx="10972800" cy="36576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>
              <a:defRPr sz="1100" b="0">
                <a:solidFill>
                  <a:srgbClr val="5C6C76"/>
                </a:solidFill>
                <a:latin typeface="Aptos"/>
              </a:defRPr>
            </a:pPr>
            <a:r>
              <a:t>NPI adalah kombinasi masalah pembayaran, kualitas tagihan, kesiapan kontak, dan keterlacakan proses.</a:t>
            </a:r>
          </a:p>
        </p:txBody>
      </p:sp>
      <p:sp>
        <p:nvSpPr>
          <p:cNvPr id="5" name="Rectangle 4"/>
          <p:cNvSpPr/>
          <p:nvPr/>
        </p:nvSpPr>
        <p:spPr>
          <a:xfrm>
            <a:off x="530352" y="1572768"/>
            <a:ext cx="594360" cy="50292"/>
          </a:xfrm>
          <a:prstGeom prst="rect">
            <a:avLst/>
          </a:prstGeom>
          <a:solidFill>
            <a:srgbClr val="007D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30352" y="6537960"/>
            <a:ext cx="9875520" cy="16459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>
              <a:defRPr sz="800" b="0">
                <a:solidFill>
                  <a:srgbClr val="5C6C76"/>
                </a:solidFill>
                <a:latin typeface="Aptos"/>
              </a:defRPr>
            </a:pPr>
            <a:r>
              <a:t>SINARMAS LAND | IPL PORTFOLIO REVIEW | BASELINE 31 JAN 2025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510528"/>
            <a:ext cx="457200" cy="182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>
              <a:defRPr sz="900" b="1">
                <a:solidFill>
                  <a:srgbClr val="5C6C76"/>
                </a:solidFill>
                <a:latin typeface="Aptos"/>
              </a:defRPr>
            </a:pPr>
            <a:r>
              <a:t>12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1874519"/>
            <a:ext cx="502920" cy="36576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>
              <a:defRPr sz="1700" b="1">
                <a:solidFill>
                  <a:srgbClr val="007D61"/>
                </a:solidFill>
                <a:latin typeface="Aptos"/>
              </a:defRPr>
            </a:pPr>
            <a:r>
              <a:t>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508760" y="1874519"/>
            <a:ext cx="2331720" cy="32004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>
              <a:defRPr sz="1400" b="1">
                <a:solidFill>
                  <a:srgbClr val="132B42"/>
                </a:solidFill>
                <a:latin typeface="Aptos"/>
              </a:defRPr>
            </a:pPr>
            <a:r>
              <a:t>Eksposur material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794760" y="1874519"/>
            <a:ext cx="7223760" cy="5029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>
              <a:defRPr sz="1200" b="0">
                <a:solidFill>
                  <a:srgbClr val="222D34"/>
                </a:solidFill>
                <a:latin typeface="Aptos"/>
              </a:defRPr>
            </a:pPr>
            <a:r>
              <a:t>B1 mencatat 289,981 NPI dan Rp230.33 miliar belum dibayar.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68680" y="2834639"/>
            <a:ext cx="502920" cy="36576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>
              <a:defRPr sz="1700" b="1">
                <a:solidFill>
                  <a:srgbClr val="007D61"/>
                </a:solidFill>
                <a:latin typeface="Aptos"/>
              </a:defRPr>
            </a:pPr>
            <a:r>
              <a:t>02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508760" y="2834639"/>
            <a:ext cx="2331720" cy="32004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>
              <a:defRPr sz="1400" b="1">
                <a:solidFill>
                  <a:srgbClr val="132B42"/>
                </a:solidFill>
                <a:latin typeface="Aptos"/>
              </a:defRPr>
            </a:pPr>
            <a:r>
              <a:t>Aging tinggi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794760" y="2834639"/>
            <a:ext cx="7223760" cy="5029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>
              <a:defRPr sz="1200" b="0">
                <a:solidFill>
                  <a:srgbClr val="222D34"/>
                </a:solidFill>
                <a:latin typeface="Aptos"/>
              </a:defRPr>
            </a:pPr>
            <a:r>
              <a:t>89.15% nilai NPI berumur lebih dari 90 hari; triase berbasis umur dan nominal dibutuhkan.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68680" y="3794760"/>
            <a:ext cx="502920" cy="36576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>
              <a:defRPr sz="1700" b="1">
                <a:solidFill>
                  <a:srgbClr val="007D61"/>
                </a:solidFill>
                <a:latin typeface="Aptos"/>
              </a:defRPr>
            </a:pPr>
            <a:r>
              <a:t>03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508760" y="3794760"/>
            <a:ext cx="2331720" cy="32004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>
              <a:defRPr sz="1400" b="1">
                <a:solidFill>
                  <a:srgbClr val="132B42"/>
                </a:solidFill>
                <a:latin typeface="Aptos"/>
              </a:defRPr>
            </a:pPr>
            <a:r>
              <a:t>Kualitas data penting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794760" y="3794760"/>
            <a:ext cx="7223760" cy="5029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>
              <a:defRPr sz="1200" b="0">
                <a:solidFill>
                  <a:srgbClr val="222D34"/>
                </a:solidFill>
                <a:latin typeface="Aptos"/>
              </a:defRPr>
            </a:pPr>
            <a:r>
              <a:t>Duplikasi, sengketa air, kontak kosong, dan status lunas/overdue harus direkonsiliasi.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68680" y="4754880"/>
            <a:ext cx="502920" cy="36576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>
              <a:defRPr sz="1700" b="1">
                <a:solidFill>
                  <a:srgbClr val="007D61"/>
                </a:solidFill>
                <a:latin typeface="Aptos"/>
              </a:defRPr>
            </a:pPr>
            <a:r>
              <a:t>04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508760" y="4754880"/>
            <a:ext cx="2331720" cy="32004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>
              <a:defRPr sz="1400" b="1">
                <a:solidFill>
                  <a:srgbClr val="132B42"/>
                </a:solidFill>
                <a:latin typeface="Aptos"/>
              </a:defRPr>
            </a:pPr>
            <a:r>
              <a:t>Collection belum terukur penuh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794760" y="4754880"/>
            <a:ext cx="7223760" cy="5029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>
              <a:defRPr sz="1200" b="0">
                <a:solidFill>
                  <a:srgbClr val="222D34"/>
                </a:solidFill>
                <a:latin typeface="Aptos"/>
              </a:defRPr>
            </a:pPr>
            <a:r>
              <a:t>Cakupan tindakan tercatat 28.16%; efektivitas kanal belum dapat dinilai secara kausal.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11155680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>
              <a:defRPr sz="900" b="1">
                <a:solidFill>
                  <a:srgbClr val="007D61"/>
                </a:solidFill>
                <a:latin typeface="Aptos"/>
              </a:defRPr>
            </a:pPr>
            <a:r>
              <a:t>07 | RECOMMENDATION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66928"/>
            <a:ext cx="11064240" cy="5029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>
              <a:defRPr sz="2600" b="1">
                <a:solidFill>
                  <a:srgbClr val="132B42"/>
                </a:solidFill>
                <a:latin typeface="Aptos"/>
              </a:defRPr>
            </a:pPr>
            <a:r>
              <a:t>Rencana aksi enam bulan: validasi dahulu, lalu skala yang terbukti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1115568"/>
            <a:ext cx="10972800" cy="36576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>
              <a:defRPr sz="1100" b="0">
                <a:solidFill>
                  <a:srgbClr val="5C6C76"/>
                </a:solidFill>
                <a:latin typeface="Aptos"/>
              </a:defRPr>
            </a:pPr>
            <a:r>
              <a:t>Rencana kerja dalam notebook dibagi menjadi dua periode tiga bulan: Feb–Apr dan Mei–Jul 2025.</a:t>
            </a:r>
          </a:p>
        </p:txBody>
      </p:sp>
      <p:sp>
        <p:nvSpPr>
          <p:cNvPr id="5" name="Rectangle 4"/>
          <p:cNvSpPr/>
          <p:nvPr/>
        </p:nvSpPr>
        <p:spPr>
          <a:xfrm>
            <a:off x="530352" y="1572768"/>
            <a:ext cx="594360" cy="50292"/>
          </a:xfrm>
          <a:prstGeom prst="rect">
            <a:avLst/>
          </a:prstGeom>
          <a:solidFill>
            <a:srgbClr val="007D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30352" y="6537960"/>
            <a:ext cx="9875520" cy="16459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>
              <a:defRPr sz="800" b="0">
                <a:solidFill>
                  <a:srgbClr val="5C6C76"/>
                </a:solidFill>
                <a:latin typeface="Aptos"/>
              </a:defRPr>
            </a:pPr>
            <a:r>
              <a:t>SINARMAS LAND | IPL PORTFOLIO REVIEW | BASELINE 31 JAN 2025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510528"/>
            <a:ext cx="457200" cy="182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>
              <a:defRPr sz="900" b="1">
                <a:solidFill>
                  <a:srgbClr val="5C6C76"/>
                </a:solidFill>
                <a:latin typeface="Aptos"/>
              </a:defRPr>
            </a:pPr>
            <a:r>
              <a:t>13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77240" y="1874519"/>
            <a:ext cx="1828800" cy="576072"/>
          </a:xfrm>
          <a:prstGeom prst="roundRect">
            <a:avLst/>
          </a:prstGeom>
          <a:solidFill>
            <a:srgbClr val="007D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2020824"/>
            <a:ext cx="155448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Aptos"/>
              </a:defRPr>
            </a:pPr>
            <a:r>
              <a:t>BULAN 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834640" y="1892807"/>
            <a:ext cx="2468880" cy="29260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>
              <a:defRPr sz="1400" b="1">
                <a:solidFill>
                  <a:srgbClr val="132B42"/>
                </a:solidFill>
                <a:latin typeface="Aptos"/>
              </a:defRPr>
            </a:pPr>
            <a:r>
              <a:t>Governance &amp; baseline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212080" y="1892807"/>
            <a:ext cx="5943600" cy="53035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>
              <a:defRPr sz="1100" b="0">
                <a:solidFill>
                  <a:srgbClr val="222D34"/>
                </a:solidFill>
                <a:latin typeface="Aptos"/>
              </a:defRPr>
            </a:pPr>
            <a:r>
              <a:t>Bekukan B1; sepakati snapshot resmi; cocokkan pembatalan dan klaim lunas; tetapkan PIC.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77240" y="2807208"/>
            <a:ext cx="1828800" cy="576072"/>
          </a:xfrm>
          <a:prstGeom prst="roundRect">
            <a:avLst/>
          </a:prstGeom>
          <a:solidFill>
            <a:srgbClr val="132B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14400" y="2953512"/>
            <a:ext cx="155448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Aptos"/>
              </a:defRPr>
            </a:pPr>
            <a:r>
              <a:t>BULAN 1–3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834640" y="2825496"/>
            <a:ext cx="2468880" cy="29260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>
              <a:defRPr sz="1400" b="1">
                <a:solidFill>
                  <a:srgbClr val="132B42"/>
                </a:solidFill>
                <a:latin typeface="Aptos"/>
              </a:defRPr>
            </a:pPr>
            <a:r>
              <a:t>Resolve &amp; pilot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212080" y="2825496"/>
            <a:ext cx="5943600" cy="53035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>
              <a:defRPr sz="1100" b="0">
                <a:solidFill>
                  <a:srgbClr val="222D34"/>
                </a:solidFill>
                <a:latin typeface="Aptos"/>
              </a:defRPr>
            </a:pPr>
            <a:r>
              <a:t>Triage sengketa; audit invoice berulang Jun–Sep 2023; periksa input air manual; pilot collection pada kelompok sebanding.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77240" y="3739896"/>
            <a:ext cx="1828800" cy="576072"/>
          </a:xfrm>
          <a:prstGeom prst="roundRect">
            <a:avLst/>
          </a:prstGeom>
          <a:solidFill>
            <a:srgbClr val="132B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14400" y="3886200"/>
            <a:ext cx="155448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Aptos"/>
              </a:defRPr>
            </a:pPr>
            <a:r>
              <a:t>BULAN 1–3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834640" y="3758183"/>
            <a:ext cx="2468880" cy="29260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>
              <a:defRPr sz="1400" b="1">
                <a:solidFill>
                  <a:srgbClr val="132B42"/>
                </a:solidFill>
                <a:latin typeface="Aptos"/>
              </a:defRPr>
            </a:pPr>
            <a:r>
              <a:t>Contact readiness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212080" y="3758183"/>
            <a:ext cx="5943600" cy="53035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>
              <a:defRPr sz="1100" b="0">
                <a:solidFill>
                  <a:srgbClr val="222D34"/>
                </a:solidFill>
                <a:latin typeface="Aptos"/>
              </a:defRPr>
            </a:pPr>
            <a:r>
              <a:t>Perbarui dan verifikasi kontak; bakukan kategori respons dan kanal pembayaran.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77240" y="4672583"/>
            <a:ext cx="1828800" cy="576072"/>
          </a:xfrm>
          <a:prstGeom prst="roundRect">
            <a:avLst/>
          </a:prstGeom>
          <a:solidFill>
            <a:srgbClr val="007D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14400" y="4818888"/>
            <a:ext cx="155448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Aptos"/>
              </a:defRPr>
            </a:pPr>
            <a:r>
              <a:t>BULAN 4–6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834640" y="4690871"/>
            <a:ext cx="2468880" cy="29260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>
              <a:defRPr sz="1400" b="1">
                <a:solidFill>
                  <a:srgbClr val="132B42"/>
                </a:solidFill>
                <a:latin typeface="Aptos"/>
              </a:defRPr>
            </a:pPr>
            <a:r>
              <a:t>Scale what works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212080" y="4690871"/>
            <a:ext cx="5943600" cy="53035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>
              <a:defRPr sz="1100" b="0">
                <a:solidFill>
                  <a:srgbClr val="222D34"/>
                </a:solidFill>
                <a:latin typeface="Aptos"/>
              </a:defRPr>
            </a:pPr>
            <a:r>
              <a:t>Perluas pendekatan yang menunjukkan tambahan pelunasan terverifikasi; lanjutkan backlog dan pool.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68680" y="5806440"/>
            <a:ext cx="10332720" cy="29260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>
              <a:defRPr sz="1000" b="1">
                <a:solidFill>
                  <a:srgbClr val="B54541"/>
                </a:solidFill>
                <a:latin typeface="Aptos"/>
              </a:defRPr>
            </a:pPr>
            <a:r>
              <a:t>Target awal usulan: turunkan NPI B1 sebesar 2 poin persentase dalam enam bulan—bukan komitmen sebelum kapasitas dan hasil pilot tervalidasi.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11155680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>
              <a:defRPr sz="900" b="1">
                <a:solidFill>
                  <a:srgbClr val="007D61"/>
                </a:solidFill>
                <a:latin typeface="Aptos"/>
              </a:defRPr>
            </a:pPr>
            <a:r>
              <a:t>07 | RECOMMENDATION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66928"/>
            <a:ext cx="11064240" cy="5029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>
              <a:defRPr sz="2600" b="1">
                <a:solidFill>
                  <a:srgbClr val="132B42"/>
                </a:solidFill>
                <a:latin typeface="Aptos"/>
              </a:defRPr>
            </a:pPr>
            <a:r>
              <a:t>KPI harus memisahkan cash recovery dari koreksi administratif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1115568"/>
            <a:ext cx="10972800" cy="36576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>
              <a:defRPr sz="1100" b="0">
                <a:solidFill>
                  <a:srgbClr val="5C6C76"/>
                </a:solidFill>
                <a:latin typeface="Aptos"/>
              </a:defRPr>
            </a:pPr>
            <a:r>
              <a:t>Penyebut B1 tetap dibekukan untuk menilai pelunasan kelompok awal.</a:t>
            </a:r>
          </a:p>
        </p:txBody>
      </p:sp>
      <p:sp>
        <p:nvSpPr>
          <p:cNvPr id="5" name="Rectangle 4"/>
          <p:cNvSpPr/>
          <p:nvPr/>
        </p:nvSpPr>
        <p:spPr>
          <a:xfrm>
            <a:off x="530352" y="1572768"/>
            <a:ext cx="594360" cy="50292"/>
          </a:xfrm>
          <a:prstGeom prst="rect">
            <a:avLst/>
          </a:prstGeom>
          <a:solidFill>
            <a:srgbClr val="007D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30352" y="6537960"/>
            <a:ext cx="9875520" cy="16459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>
              <a:defRPr sz="800" b="0">
                <a:solidFill>
                  <a:srgbClr val="5C6C76"/>
                </a:solidFill>
                <a:latin typeface="Aptos"/>
              </a:defRPr>
            </a:pPr>
            <a:r>
              <a:t>SINARMAS LAND | IPL PORTFOLIO REVIEW | BASELINE 31 JAN 2025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510528"/>
            <a:ext cx="457200" cy="182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>
              <a:defRPr sz="900" b="1">
                <a:solidFill>
                  <a:srgbClr val="5C6C76"/>
                </a:solidFill>
                <a:latin typeface="Aptos"/>
              </a:defRPr>
            </a:pPr>
            <a:r>
              <a:t>14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77240" y="1874519"/>
            <a:ext cx="3246120" cy="1417320"/>
          </a:xfrm>
          <a:prstGeom prst="roundRect">
            <a:avLst/>
          </a:prstGeom>
          <a:solidFill>
            <a:srgbClr val="F0F5F3"/>
          </a:solidFill>
          <a:ln>
            <a:solidFill>
              <a:srgbClr val="F0F5F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77240" y="1874519"/>
            <a:ext cx="64008" cy="1417320"/>
          </a:xfrm>
          <a:prstGeom prst="rect">
            <a:avLst/>
          </a:prstGeom>
          <a:solidFill>
            <a:srgbClr val="007D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78408" y="2020824"/>
            <a:ext cx="2898648" cy="29260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>
              <a:defRPr sz="900" b="1">
                <a:solidFill>
                  <a:srgbClr val="5C6C76"/>
                </a:solidFill>
                <a:latin typeface="Aptos"/>
              </a:defRPr>
            </a:pPr>
            <a:r>
              <a:t>TARGET PENURUNAN NPI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78408" y="2359152"/>
            <a:ext cx="2898648" cy="5029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>
              <a:defRPr sz="2400" b="1">
                <a:solidFill>
                  <a:srgbClr val="132B42"/>
                </a:solidFill>
                <a:latin typeface="Aptos"/>
              </a:defRPr>
            </a:pPr>
            <a:r>
              <a:t>−2.0 pp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78408" y="2852927"/>
            <a:ext cx="2880360" cy="32004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>
              <a:defRPr sz="900" b="0">
                <a:solidFill>
                  <a:srgbClr val="5C6C76"/>
                </a:solidFill>
                <a:latin typeface="Aptos"/>
              </a:defRPr>
            </a:pPr>
            <a:r>
              <a:t>Dari baseline B1 36.67%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480560" y="1874519"/>
            <a:ext cx="3246120" cy="1417320"/>
          </a:xfrm>
          <a:prstGeom prst="roundRect">
            <a:avLst/>
          </a:prstGeom>
          <a:solidFill>
            <a:srgbClr val="F0F5F3"/>
          </a:solidFill>
          <a:ln>
            <a:solidFill>
              <a:srgbClr val="F0F5F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480560" y="1874519"/>
            <a:ext cx="64008" cy="1417320"/>
          </a:xfrm>
          <a:prstGeom prst="rect">
            <a:avLst/>
          </a:prstGeom>
          <a:solidFill>
            <a:srgbClr val="DC8B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681728" y="2020824"/>
            <a:ext cx="2898648" cy="29260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>
              <a:defRPr sz="900" b="1">
                <a:solidFill>
                  <a:srgbClr val="5C6C76"/>
                </a:solidFill>
                <a:latin typeface="Aptos"/>
              </a:defRPr>
            </a:pPr>
            <a:r>
              <a:t>PELUNASAN PENUH DIBUTUHKAN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681728" y="2359152"/>
            <a:ext cx="2898648" cy="5029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>
              <a:defRPr sz="2400" b="1">
                <a:solidFill>
                  <a:srgbClr val="132B42"/>
                </a:solidFill>
                <a:latin typeface="Aptos"/>
              </a:defRPr>
            </a:pPr>
            <a:r>
              <a:t>15,817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681728" y="2852927"/>
            <a:ext cx="2880360" cy="32004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>
              <a:defRPr sz="900" b="0">
                <a:solidFill>
                  <a:srgbClr val="5C6C76"/>
                </a:solidFill>
                <a:latin typeface="Aptos"/>
              </a:defRPr>
            </a:pPr>
            <a:r>
              <a:t>Setara 9.84% pool awal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183879" y="1874519"/>
            <a:ext cx="3246120" cy="1417320"/>
          </a:xfrm>
          <a:prstGeom prst="roundRect">
            <a:avLst/>
          </a:prstGeom>
          <a:solidFill>
            <a:srgbClr val="F0F5F3"/>
          </a:solidFill>
          <a:ln>
            <a:solidFill>
              <a:srgbClr val="F0F5F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8183879" y="1874519"/>
            <a:ext cx="64008" cy="1417320"/>
          </a:xfrm>
          <a:prstGeom prst="rect">
            <a:avLst/>
          </a:prstGeom>
          <a:solidFill>
            <a:srgbClr val="132B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385048" y="2020824"/>
            <a:ext cx="2898648" cy="29260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>
              <a:defRPr sz="900" b="1">
                <a:solidFill>
                  <a:srgbClr val="5C6C76"/>
                </a:solidFill>
                <a:latin typeface="Aptos"/>
              </a:defRPr>
            </a:pPr>
            <a:r>
              <a:t>TARGET KONTAK KOSONG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385048" y="2359152"/>
            <a:ext cx="2898648" cy="5029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>
              <a:defRPr sz="2400" b="1">
                <a:solidFill>
                  <a:srgbClr val="132B42"/>
                </a:solidFill>
                <a:latin typeface="Aptos"/>
              </a:defRPr>
            </a:pPr>
            <a:r>
              <a:t>≤12%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385048" y="2852927"/>
            <a:ext cx="2880360" cy="32004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>
              <a:defRPr sz="900" b="0">
                <a:solidFill>
                  <a:srgbClr val="5C6C76"/>
                </a:solidFill>
                <a:latin typeface="Aptos"/>
              </a:defRPr>
            </a:pPr>
            <a:r>
              <a:t>Usulan operasional; perlu validasi kapasitas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68680" y="3840480"/>
            <a:ext cx="5029200" cy="32004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>
              <a:defRPr sz="1100" b="1">
                <a:solidFill>
                  <a:srgbClr val="007D61"/>
                </a:solidFill>
                <a:latin typeface="Aptos"/>
              </a:defRPr>
            </a:pPr>
            <a:r>
              <a:t>LAPORKAN TERPISAH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14400" y="4206240"/>
            <a:ext cx="4937760" cy="1508760"/>
          </a:xfrm>
          <a:prstGeom prst="rect">
            <a:avLst/>
          </a:prstGeom>
          <a:noFill/>
        </p:spPr>
        <p:txBody>
          <a:bodyPr wrap="square" lIns="18288" rIns="36576" tIns="27432" bIns="18288">
            <a:spAutoFit/>
          </a:bodyPr>
          <a:lstStyle/>
          <a:p>
            <a:pPr>
              <a:spcAft>
                <a:spcPts val="800"/>
              </a:spcAft>
              <a:defRPr sz="1200">
                <a:solidFill>
                  <a:srgbClr val="222D34"/>
                </a:solidFill>
                <a:latin typeface="Aptos"/>
              </a:defRPr>
            </a:pPr>
            <a:r>
              <a:t>Pelunasan penuh dan kas terverifikasi</a:t>
            </a:r>
          </a:p>
          <a:p>
            <a:pPr>
              <a:spcAft>
                <a:spcPts val="800"/>
              </a:spcAft>
              <a:defRPr sz="1200">
                <a:solidFill>
                  <a:srgbClr val="222D34"/>
                </a:solidFill>
                <a:latin typeface="Aptos"/>
              </a:defRPr>
            </a:pPr>
            <a:r>
              <a:t>Pembayaran parsial dan saldo tersisa</a:t>
            </a:r>
          </a:p>
          <a:p>
            <a:pPr>
              <a:spcAft>
                <a:spcPts val="800"/>
              </a:spcAft>
              <a:defRPr sz="1200">
                <a:solidFill>
                  <a:srgbClr val="222D34"/>
                </a:solidFill>
                <a:latin typeface="Aptos"/>
              </a:defRPr>
            </a:pPr>
            <a:r>
              <a:t>Pembatalan, penghapusan, koreksi, refund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217920" y="3840480"/>
            <a:ext cx="4846320" cy="32004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>
              <a:defRPr sz="1100" b="1">
                <a:solidFill>
                  <a:srgbClr val="007D61"/>
                </a:solidFill>
                <a:latin typeface="Aptos"/>
              </a:defRPr>
            </a:pPr>
            <a:r>
              <a:t>RITME TATA KELOLA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263640" y="4206240"/>
            <a:ext cx="4937760" cy="1508760"/>
          </a:xfrm>
          <a:prstGeom prst="rect">
            <a:avLst/>
          </a:prstGeom>
          <a:noFill/>
        </p:spPr>
        <p:txBody>
          <a:bodyPr wrap="square" lIns="18288" rIns="36576" tIns="27432" bIns="18288">
            <a:spAutoFit/>
          </a:bodyPr>
          <a:lstStyle/>
          <a:p>
            <a:pPr>
              <a:spcAft>
                <a:spcPts val="800"/>
              </a:spcAft>
              <a:defRPr sz="1200">
                <a:solidFill>
                  <a:srgbClr val="222D34"/>
                </a:solidFill>
                <a:latin typeface="Aptos"/>
              </a:defRPr>
            </a:pPr>
            <a:r>
              <a:t>Review mingguan: backlog sengketa, kontak, kasus prioritas</a:t>
            </a:r>
          </a:p>
          <a:p>
            <a:pPr>
              <a:spcAft>
                <a:spcPts val="800"/>
              </a:spcAft>
              <a:defRPr sz="1200">
                <a:solidFill>
                  <a:srgbClr val="222D34"/>
                </a:solidFill>
                <a:latin typeface="Aptos"/>
              </a:defRPr>
            </a:pPr>
            <a:r>
              <a:t>Review bulanan: cohort D+30/D+60, pelunasan dan rekonsiliasi</a:t>
            </a:r>
          </a:p>
          <a:p>
            <a:pPr>
              <a:spcAft>
                <a:spcPts val="800"/>
              </a:spcAft>
              <a:defRPr sz="1200">
                <a:solidFill>
                  <a:srgbClr val="222D34"/>
                </a:solidFill>
                <a:latin typeface="Aptos"/>
              </a:defRPr>
            </a:pPr>
            <a:r>
              <a:t>Review per periode: pilot vs kelompok pembanding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32B4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731520"/>
            <a:ext cx="10789920" cy="32004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>
              <a:defRPr sz="1100" b="1">
                <a:solidFill>
                  <a:srgbClr val="B0CD5C"/>
                </a:solidFill>
                <a:latin typeface="Aptos"/>
              </a:defRPr>
            </a:pPr>
            <a:r>
              <a:t>DECISION REQUIRED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325880"/>
            <a:ext cx="10424160" cy="9144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>
              <a:defRPr sz="2900" b="1">
                <a:solidFill>
                  <a:srgbClr val="FFFFFF"/>
                </a:solidFill>
                <a:latin typeface="Aptos"/>
              </a:defRPr>
            </a:pPr>
            <a:r>
              <a:t>Approve the baseline, triage rules,</a:t>
            </a:r>
            <a:br/>
            <a:r>
              <a:t>and controlled collection pilot.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3154680"/>
            <a:ext cx="9875520" cy="7315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>
              <a:defRPr sz="1700" b="0">
                <a:solidFill>
                  <a:srgbClr val="DCE6EA"/>
                </a:solidFill>
                <a:latin typeface="Aptos"/>
              </a:defRPr>
            </a:pPr>
            <a:r>
              <a:t>The next milestone is not a higher contact volume. It is a verified view of what is collectible, what is disputed, and what has actually been paid.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6080760"/>
            <a:ext cx="10058400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>
              <a:defRPr sz="900" b="1">
                <a:solidFill>
                  <a:srgbClr val="B0CD5C"/>
                </a:solidFill>
                <a:latin typeface="Aptos"/>
              </a:defRPr>
            </a:pPr>
            <a:r>
              <a:t>SINARMAS LAND | IPL RECEIVABLES REVIEW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